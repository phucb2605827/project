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arlow Condensed Bold" charset="1" panose="00000806000000000000"/>
      <p:regular r:id="rId24"/>
    </p:embeddedFont>
    <p:embeddedFont>
      <p:font typeface="Be Vietnam" charset="1" panose="00000500000000000000"/>
      <p:regular r:id="rId25"/>
    </p:embeddedFont>
    <p:embeddedFont>
      <p:font typeface="Be Vietnam Ultra-Bold" charset="1" panose="00000900000000000000"/>
      <p:regular r:id="rId26"/>
    </p:embeddedFont>
    <p:embeddedFont>
      <p:font typeface="Arimo" charset="1" panose="020B0604020202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728"/>
        </a:solidFill>
      </p:bgPr>
    </p:bg>
    <p:spTree>
      <p:nvGrpSpPr>
        <p:cNvPr id="1" name=""/>
        <p:cNvGrpSpPr/>
        <p:nvPr/>
      </p:nvGrpSpPr>
      <p:grpSpPr>
        <a:xfrm>
          <a:off x="0" y="0"/>
          <a:ext cx="0" cy="0"/>
          <a:chOff x="0" y="0"/>
          <a:chExt cx="0" cy="0"/>
        </a:xfrm>
      </p:grpSpPr>
      <p:sp>
        <p:nvSpPr>
          <p:cNvPr name="Freeform 2" id="2"/>
          <p:cNvSpPr/>
          <p:nvPr/>
        </p:nvSpPr>
        <p:spPr>
          <a:xfrm flipH="false" flipV="false" rot="0">
            <a:off x="9048750" y="0"/>
            <a:ext cx="9239250" cy="10287000"/>
          </a:xfrm>
          <a:custGeom>
            <a:avLst/>
            <a:gdLst/>
            <a:ahLst/>
            <a:cxnLst/>
            <a:rect r="r" b="b" t="t" l="l"/>
            <a:pathLst>
              <a:path h="10287000" w="9239250">
                <a:moveTo>
                  <a:pt x="0" y="0"/>
                </a:moveTo>
                <a:lnTo>
                  <a:pt x="9239250" y="0"/>
                </a:lnTo>
                <a:lnTo>
                  <a:pt x="9239250" y="10287000"/>
                </a:lnTo>
                <a:lnTo>
                  <a:pt x="0" y="10287000"/>
                </a:lnTo>
                <a:lnTo>
                  <a:pt x="0" y="0"/>
                </a:lnTo>
                <a:close/>
              </a:path>
            </a:pathLst>
          </a:custGeom>
          <a:blipFill>
            <a:blip r:embed="rId2"/>
            <a:stretch>
              <a:fillRect l="0" t="-36" r="0" b="-36"/>
            </a:stretch>
          </a:blipFill>
          <a:ln cap="sq">
            <a:noFill/>
            <a:prstDash val="solid"/>
            <a:miter/>
          </a:ln>
        </p:spPr>
      </p:sp>
      <p:grpSp>
        <p:nvGrpSpPr>
          <p:cNvPr name="Group 3" id="3"/>
          <p:cNvGrpSpPr/>
          <p:nvPr/>
        </p:nvGrpSpPr>
        <p:grpSpPr>
          <a:xfrm rot="0">
            <a:off x="7429500" y="0"/>
            <a:ext cx="4000500" cy="10287000"/>
            <a:chOff x="0" y="0"/>
            <a:chExt cx="5334000" cy="13716000"/>
          </a:xfrm>
        </p:grpSpPr>
        <p:sp>
          <p:nvSpPr>
            <p:cNvPr name="Freeform 4" id="4"/>
            <p:cNvSpPr/>
            <p:nvPr/>
          </p:nvSpPr>
          <p:spPr>
            <a:xfrm flipH="false" flipV="false" rot="0">
              <a:off x="0" y="0"/>
              <a:ext cx="5334000" cy="13716000"/>
            </a:xfrm>
            <a:custGeom>
              <a:avLst/>
              <a:gdLst/>
              <a:ahLst/>
              <a:cxnLst/>
              <a:rect r="r" b="b" t="t" l="l"/>
              <a:pathLst>
                <a:path h="13716000" w="5334000">
                  <a:moveTo>
                    <a:pt x="0" y="0"/>
                  </a:moveTo>
                  <a:lnTo>
                    <a:pt x="5334000" y="0"/>
                  </a:lnTo>
                  <a:lnTo>
                    <a:pt x="5334000" y="13716000"/>
                  </a:lnTo>
                  <a:lnTo>
                    <a:pt x="0" y="13716000"/>
                  </a:lnTo>
                  <a:close/>
                </a:path>
              </a:pathLst>
            </a:custGeom>
            <a:gradFill rotWithShape="true">
              <a:gsLst>
                <a:gs pos="0">
                  <a:srgbClr val="0B1728">
                    <a:alpha val="85000"/>
                  </a:srgbClr>
                </a:gs>
                <a:gs pos="100000">
                  <a:srgbClr val="0B1728">
                    <a:alpha val="0"/>
                  </a:srgbClr>
                </a:gs>
              </a:gsLst>
              <a:lin ang="16200000"/>
            </a:gradFill>
            <a:ln cap="sq">
              <a:noFill/>
              <a:prstDash val="solid"/>
              <a:miter/>
            </a:ln>
          </p:spPr>
        </p:sp>
        <p:sp>
          <p:nvSpPr>
            <p:cNvPr name="TextBox 5" id="5"/>
            <p:cNvSpPr txBox="true"/>
            <p:nvPr/>
          </p:nvSpPr>
          <p:spPr>
            <a:xfrm>
              <a:off x="0" y="-38100"/>
              <a:ext cx="5334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943100"/>
            <a:ext cx="10477500" cy="1689354"/>
          </a:xfrm>
          <a:prstGeom prst="rect">
            <a:avLst/>
          </a:prstGeom>
        </p:spPr>
        <p:txBody>
          <a:bodyPr anchor="t" rtlCol="false" tIns="0" lIns="0" bIns="0" rIns="0">
            <a:spAutoFit/>
          </a:bodyPr>
          <a:lstStyle/>
          <a:p>
            <a:pPr algn="l">
              <a:lnSpc>
                <a:spcPts val="6467"/>
              </a:lnSpc>
            </a:pPr>
            <a:r>
              <a:rPr lang="en-US" sz="6600" b="true">
                <a:solidFill>
                  <a:srgbClr val="FFFFFF"/>
                </a:solidFill>
                <a:latin typeface="Barlow Condensed Bold"/>
                <a:ea typeface="Barlow Condensed Bold"/>
                <a:cs typeface="Barlow Condensed Bold"/>
                <a:sym typeface="Barlow Condensed Bold"/>
              </a:rPr>
              <a:t>Giới thiệu về Internet vạn vật (IoT)</a:t>
            </a:r>
          </a:p>
          <a:p>
            <a:pPr algn="l">
              <a:lnSpc>
                <a:spcPts val="6467"/>
              </a:lnSpc>
            </a:pPr>
            <a:r>
              <a:rPr lang="en-US" sz="6600" b="true">
                <a:solidFill>
                  <a:srgbClr val="FFFFFF"/>
                </a:solidFill>
                <a:latin typeface="Barlow Condensed Bold"/>
                <a:ea typeface="Barlow Condensed Bold"/>
                <a:cs typeface="Barlow Condensed Bold"/>
                <a:sym typeface="Barlow Condensed Bold"/>
              </a:rPr>
              <a:t>và hệ thống nhà thông minh</a:t>
            </a:r>
          </a:p>
        </p:txBody>
      </p:sp>
      <p:sp>
        <p:nvSpPr>
          <p:cNvPr name="TextBox 7" id="7"/>
          <p:cNvSpPr txBox="true"/>
          <p:nvPr/>
        </p:nvSpPr>
        <p:spPr>
          <a:xfrm rot="0">
            <a:off x="1047750" y="7820025"/>
            <a:ext cx="7239000" cy="323850"/>
          </a:xfrm>
          <a:prstGeom prst="rect">
            <a:avLst/>
          </a:prstGeom>
        </p:spPr>
        <p:txBody>
          <a:bodyPr anchor="t" rtlCol="false" tIns="0" lIns="0" bIns="0" rIns="0">
            <a:spAutoFit/>
          </a:bodyPr>
          <a:lstStyle/>
          <a:p>
            <a:pPr algn="l">
              <a:lnSpc>
                <a:spcPts val="2625"/>
              </a:lnSpc>
            </a:pPr>
            <a:r>
              <a:rPr lang="en-US" sz="1875">
                <a:solidFill>
                  <a:srgbClr val="46D9C5"/>
                </a:solidFill>
                <a:latin typeface="Be Vietnam"/>
                <a:ea typeface="Be Vietnam"/>
                <a:cs typeface="Be Vietnam"/>
                <a:sym typeface="Be Vietnam"/>
              </a:rPr>
              <a:t>Người trình bày: …   |   Ngày: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grpSp>
        <p:nvGrpSpPr>
          <p:cNvPr name="Group 2" id="2"/>
          <p:cNvGrpSpPr/>
          <p:nvPr/>
        </p:nvGrpSpPr>
        <p:grpSpPr>
          <a:xfrm rot="0">
            <a:off x="1476375" y="2619375"/>
            <a:ext cx="895350" cy="685800"/>
            <a:chOff x="0" y="0"/>
            <a:chExt cx="1193800" cy="914400"/>
          </a:xfrm>
        </p:grpSpPr>
        <p:sp>
          <p:nvSpPr>
            <p:cNvPr name="Freeform 3" id="3"/>
            <p:cNvSpPr/>
            <p:nvPr/>
          </p:nvSpPr>
          <p:spPr>
            <a:xfrm flipH="false" flipV="false" rot="0">
              <a:off x="0" y="0"/>
              <a:ext cx="1193800" cy="914400"/>
            </a:xfrm>
            <a:custGeom>
              <a:avLst/>
              <a:gdLst/>
              <a:ahLst/>
              <a:cxnLst/>
              <a:rect r="r" b="b" t="t" l="l"/>
              <a:pathLst>
                <a:path h="914400" w="1193800">
                  <a:moveTo>
                    <a:pt x="243191" y="0"/>
                  </a:moveTo>
                  <a:lnTo>
                    <a:pt x="950609" y="0"/>
                  </a:lnTo>
                  <a:cubicBezTo>
                    <a:pt x="1015107" y="0"/>
                    <a:pt x="1076964" y="25622"/>
                    <a:pt x="1122571" y="71229"/>
                  </a:cubicBezTo>
                  <a:cubicBezTo>
                    <a:pt x="1168178" y="116836"/>
                    <a:pt x="1193800" y="178693"/>
                    <a:pt x="1193800" y="243191"/>
                  </a:cubicBezTo>
                  <a:lnTo>
                    <a:pt x="1193800" y="671208"/>
                  </a:lnTo>
                  <a:cubicBezTo>
                    <a:pt x="1193800" y="735707"/>
                    <a:pt x="1168178" y="797564"/>
                    <a:pt x="1122571" y="843171"/>
                  </a:cubicBezTo>
                  <a:cubicBezTo>
                    <a:pt x="1076964" y="888778"/>
                    <a:pt x="1015107" y="914400"/>
                    <a:pt x="950609" y="914400"/>
                  </a:cubicBezTo>
                  <a:lnTo>
                    <a:pt x="243191" y="914400"/>
                  </a:lnTo>
                  <a:cubicBezTo>
                    <a:pt x="178693" y="914400"/>
                    <a:pt x="116836" y="888778"/>
                    <a:pt x="71229" y="843171"/>
                  </a:cubicBezTo>
                  <a:cubicBezTo>
                    <a:pt x="25622" y="797564"/>
                    <a:pt x="0" y="735707"/>
                    <a:pt x="0" y="671208"/>
                  </a:cubicBezTo>
                  <a:lnTo>
                    <a:pt x="0" y="243191"/>
                  </a:lnTo>
                  <a:cubicBezTo>
                    <a:pt x="0" y="178693"/>
                    <a:pt x="25622" y="116836"/>
                    <a:pt x="71229" y="71229"/>
                  </a:cubicBezTo>
                  <a:cubicBezTo>
                    <a:pt x="116836" y="25622"/>
                    <a:pt x="178693" y="0"/>
                    <a:pt x="243191" y="0"/>
                  </a:cubicBezTo>
                  <a:close/>
                </a:path>
              </a:pathLst>
            </a:custGeom>
            <a:solidFill>
              <a:srgbClr val="2D7FF9"/>
            </a:solidFill>
            <a:ln cap="sq">
              <a:noFill/>
              <a:prstDash val="solid"/>
              <a:miter/>
            </a:ln>
          </p:spPr>
        </p:sp>
        <p:sp>
          <p:nvSpPr>
            <p:cNvPr name="TextBox 4" id="4"/>
            <p:cNvSpPr txBox="true"/>
            <p:nvPr/>
          </p:nvSpPr>
          <p:spPr>
            <a:xfrm>
              <a:off x="0" y="9525"/>
              <a:ext cx="1193800" cy="904875"/>
            </a:xfrm>
            <a:prstGeom prst="rect">
              <a:avLst/>
            </a:prstGeom>
          </p:spPr>
          <p:txBody>
            <a:bodyPr anchor="ctr" rtlCol="false" tIns="50800" lIns="50800" bIns="50800" rIns="50800"/>
            <a:lstStyle/>
            <a:p>
              <a:pPr algn="ctr">
                <a:lnSpc>
                  <a:spcPts val="3219"/>
                </a:lnSpc>
              </a:pPr>
              <a:r>
                <a:rPr lang="en-US" sz="2799" b="true">
                  <a:solidFill>
                    <a:srgbClr val="FFFFFF"/>
                  </a:solidFill>
                  <a:latin typeface="Be Vietnam Ultra-Bold"/>
                  <a:ea typeface="Be Vietnam Ultra-Bold"/>
                  <a:cs typeface="Be Vietnam Ultra-Bold"/>
                  <a:sym typeface="Be Vietnam Ultra-Bold"/>
                </a:rPr>
                <a:t>01</a:t>
              </a:r>
            </a:p>
          </p:txBody>
        </p:sp>
      </p:grpSp>
      <p:grpSp>
        <p:nvGrpSpPr>
          <p:cNvPr name="Group 5" id="5"/>
          <p:cNvGrpSpPr/>
          <p:nvPr/>
        </p:nvGrpSpPr>
        <p:grpSpPr>
          <a:xfrm rot="0">
            <a:off x="7334250" y="2619375"/>
            <a:ext cx="895350" cy="685800"/>
            <a:chOff x="0" y="0"/>
            <a:chExt cx="1193800" cy="914400"/>
          </a:xfrm>
        </p:grpSpPr>
        <p:sp>
          <p:nvSpPr>
            <p:cNvPr name="Freeform 6" id="6"/>
            <p:cNvSpPr/>
            <p:nvPr/>
          </p:nvSpPr>
          <p:spPr>
            <a:xfrm flipH="false" flipV="false" rot="0">
              <a:off x="0" y="0"/>
              <a:ext cx="1193800" cy="914400"/>
            </a:xfrm>
            <a:custGeom>
              <a:avLst/>
              <a:gdLst/>
              <a:ahLst/>
              <a:cxnLst/>
              <a:rect r="r" b="b" t="t" l="l"/>
              <a:pathLst>
                <a:path h="914400" w="1193800">
                  <a:moveTo>
                    <a:pt x="243191" y="0"/>
                  </a:moveTo>
                  <a:lnTo>
                    <a:pt x="950609" y="0"/>
                  </a:lnTo>
                  <a:cubicBezTo>
                    <a:pt x="1015107" y="0"/>
                    <a:pt x="1076964" y="25622"/>
                    <a:pt x="1122571" y="71229"/>
                  </a:cubicBezTo>
                  <a:cubicBezTo>
                    <a:pt x="1168178" y="116836"/>
                    <a:pt x="1193800" y="178693"/>
                    <a:pt x="1193800" y="243191"/>
                  </a:cubicBezTo>
                  <a:lnTo>
                    <a:pt x="1193800" y="671208"/>
                  </a:lnTo>
                  <a:cubicBezTo>
                    <a:pt x="1193800" y="735707"/>
                    <a:pt x="1168178" y="797564"/>
                    <a:pt x="1122571" y="843171"/>
                  </a:cubicBezTo>
                  <a:cubicBezTo>
                    <a:pt x="1076964" y="888778"/>
                    <a:pt x="1015107" y="914400"/>
                    <a:pt x="950609" y="914400"/>
                  </a:cubicBezTo>
                  <a:lnTo>
                    <a:pt x="243191" y="914400"/>
                  </a:lnTo>
                  <a:cubicBezTo>
                    <a:pt x="178693" y="914400"/>
                    <a:pt x="116836" y="888778"/>
                    <a:pt x="71229" y="843171"/>
                  </a:cubicBezTo>
                  <a:cubicBezTo>
                    <a:pt x="25622" y="797564"/>
                    <a:pt x="0" y="735707"/>
                    <a:pt x="0" y="671208"/>
                  </a:cubicBezTo>
                  <a:lnTo>
                    <a:pt x="0" y="243191"/>
                  </a:lnTo>
                  <a:cubicBezTo>
                    <a:pt x="0" y="178693"/>
                    <a:pt x="25622" y="116836"/>
                    <a:pt x="71229" y="71229"/>
                  </a:cubicBezTo>
                  <a:cubicBezTo>
                    <a:pt x="116836" y="25622"/>
                    <a:pt x="178693" y="0"/>
                    <a:pt x="243191" y="0"/>
                  </a:cubicBezTo>
                  <a:close/>
                </a:path>
              </a:pathLst>
            </a:custGeom>
            <a:solidFill>
              <a:srgbClr val="46D9C5"/>
            </a:solidFill>
            <a:ln cap="sq">
              <a:noFill/>
              <a:prstDash val="solid"/>
              <a:miter/>
            </a:ln>
          </p:spPr>
        </p:sp>
        <p:sp>
          <p:nvSpPr>
            <p:cNvPr name="TextBox 7" id="7"/>
            <p:cNvSpPr txBox="true"/>
            <p:nvPr/>
          </p:nvSpPr>
          <p:spPr>
            <a:xfrm>
              <a:off x="0" y="9525"/>
              <a:ext cx="1193800" cy="904875"/>
            </a:xfrm>
            <a:prstGeom prst="rect">
              <a:avLst/>
            </a:prstGeom>
          </p:spPr>
          <p:txBody>
            <a:bodyPr anchor="ctr" rtlCol="false" tIns="50800" lIns="50800" bIns="50800" rIns="50800"/>
            <a:lstStyle/>
            <a:p>
              <a:pPr algn="ctr">
                <a:lnSpc>
                  <a:spcPts val="3219"/>
                </a:lnSpc>
              </a:pPr>
              <a:r>
                <a:rPr lang="en-US" sz="2799" b="true">
                  <a:solidFill>
                    <a:srgbClr val="122033"/>
                  </a:solidFill>
                  <a:latin typeface="Be Vietnam Ultra-Bold"/>
                  <a:ea typeface="Be Vietnam Ultra-Bold"/>
                  <a:cs typeface="Be Vietnam Ultra-Bold"/>
                  <a:sym typeface="Be Vietnam Ultra-Bold"/>
                </a:rPr>
                <a:t>02</a:t>
              </a:r>
            </a:p>
          </p:txBody>
        </p:sp>
      </p:grpSp>
      <p:grpSp>
        <p:nvGrpSpPr>
          <p:cNvPr name="Group 8" id="8"/>
          <p:cNvGrpSpPr/>
          <p:nvPr/>
        </p:nvGrpSpPr>
        <p:grpSpPr>
          <a:xfrm rot="0">
            <a:off x="13192125" y="2619375"/>
            <a:ext cx="895350" cy="685800"/>
            <a:chOff x="0" y="0"/>
            <a:chExt cx="1193800" cy="914400"/>
          </a:xfrm>
        </p:grpSpPr>
        <p:sp>
          <p:nvSpPr>
            <p:cNvPr name="Freeform 9" id="9"/>
            <p:cNvSpPr/>
            <p:nvPr/>
          </p:nvSpPr>
          <p:spPr>
            <a:xfrm flipH="false" flipV="false" rot="0">
              <a:off x="0" y="0"/>
              <a:ext cx="1193800" cy="914400"/>
            </a:xfrm>
            <a:custGeom>
              <a:avLst/>
              <a:gdLst/>
              <a:ahLst/>
              <a:cxnLst/>
              <a:rect r="r" b="b" t="t" l="l"/>
              <a:pathLst>
                <a:path h="914400" w="1193800">
                  <a:moveTo>
                    <a:pt x="243191" y="0"/>
                  </a:moveTo>
                  <a:lnTo>
                    <a:pt x="950609" y="0"/>
                  </a:lnTo>
                  <a:cubicBezTo>
                    <a:pt x="1015107" y="0"/>
                    <a:pt x="1076964" y="25622"/>
                    <a:pt x="1122571" y="71229"/>
                  </a:cubicBezTo>
                  <a:cubicBezTo>
                    <a:pt x="1168178" y="116836"/>
                    <a:pt x="1193800" y="178693"/>
                    <a:pt x="1193800" y="243191"/>
                  </a:cubicBezTo>
                  <a:lnTo>
                    <a:pt x="1193800" y="671208"/>
                  </a:lnTo>
                  <a:cubicBezTo>
                    <a:pt x="1193800" y="735707"/>
                    <a:pt x="1168178" y="797564"/>
                    <a:pt x="1122571" y="843171"/>
                  </a:cubicBezTo>
                  <a:cubicBezTo>
                    <a:pt x="1076964" y="888778"/>
                    <a:pt x="1015107" y="914400"/>
                    <a:pt x="950609" y="914400"/>
                  </a:cubicBezTo>
                  <a:lnTo>
                    <a:pt x="243191" y="914400"/>
                  </a:lnTo>
                  <a:cubicBezTo>
                    <a:pt x="178693" y="914400"/>
                    <a:pt x="116836" y="888778"/>
                    <a:pt x="71229" y="843171"/>
                  </a:cubicBezTo>
                  <a:cubicBezTo>
                    <a:pt x="25622" y="797564"/>
                    <a:pt x="0" y="735707"/>
                    <a:pt x="0" y="671208"/>
                  </a:cubicBezTo>
                  <a:lnTo>
                    <a:pt x="0" y="243191"/>
                  </a:lnTo>
                  <a:cubicBezTo>
                    <a:pt x="0" y="178693"/>
                    <a:pt x="25622" y="116836"/>
                    <a:pt x="71229" y="71229"/>
                  </a:cubicBezTo>
                  <a:cubicBezTo>
                    <a:pt x="116836" y="25622"/>
                    <a:pt x="178693" y="0"/>
                    <a:pt x="243191" y="0"/>
                  </a:cubicBezTo>
                  <a:close/>
                </a:path>
              </a:pathLst>
            </a:custGeom>
            <a:solidFill>
              <a:srgbClr val="FF8A4C"/>
            </a:solidFill>
            <a:ln cap="sq">
              <a:noFill/>
              <a:prstDash val="solid"/>
              <a:miter/>
            </a:ln>
          </p:spPr>
        </p:sp>
        <p:sp>
          <p:nvSpPr>
            <p:cNvPr name="TextBox 10" id="10"/>
            <p:cNvSpPr txBox="true"/>
            <p:nvPr/>
          </p:nvSpPr>
          <p:spPr>
            <a:xfrm>
              <a:off x="0" y="9525"/>
              <a:ext cx="1193800" cy="904875"/>
            </a:xfrm>
            <a:prstGeom prst="rect">
              <a:avLst/>
            </a:prstGeom>
          </p:spPr>
          <p:txBody>
            <a:bodyPr anchor="ctr" rtlCol="false" tIns="50800" lIns="50800" bIns="50800" rIns="50800"/>
            <a:lstStyle/>
            <a:p>
              <a:pPr algn="ctr">
                <a:lnSpc>
                  <a:spcPts val="3219"/>
                </a:lnSpc>
              </a:pPr>
              <a:r>
                <a:rPr lang="en-US" sz="2799" b="true">
                  <a:solidFill>
                    <a:srgbClr val="FFFFFF"/>
                  </a:solidFill>
                  <a:latin typeface="Be Vietnam Ultra-Bold"/>
                  <a:ea typeface="Be Vietnam Ultra-Bold"/>
                  <a:cs typeface="Be Vietnam Ultra-Bold"/>
                  <a:sym typeface="Be Vietnam Ultra-Bold"/>
                </a:rPr>
                <a:t>03</a:t>
              </a:r>
            </a:p>
          </p:txBody>
        </p:sp>
      </p:grpSp>
      <p:sp>
        <p:nvSpPr>
          <p:cNvPr name="TextBox 11" id="11"/>
          <p:cNvSpPr txBox="true"/>
          <p:nvPr/>
        </p:nvSpPr>
        <p:spPr>
          <a:xfrm rot="0">
            <a:off x="1047750" y="942975"/>
            <a:ext cx="12382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Vì sao chọn Internet vạn vật?</a:t>
            </a:r>
          </a:p>
        </p:txBody>
      </p:sp>
      <p:grpSp>
        <p:nvGrpSpPr>
          <p:cNvPr name="Group 12" id="12"/>
          <p:cNvGrpSpPr/>
          <p:nvPr/>
        </p:nvGrpSpPr>
        <p:grpSpPr>
          <a:xfrm rot="0">
            <a:off x="1476375" y="3714750"/>
            <a:ext cx="3619500" cy="5001260"/>
            <a:chOff x="0" y="0"/>
            <a:chExt cx="4826000" cy="6668347"/>
          </a:xfrm>
        </p:grpSpPr>
        <p:sp>
          <p:nvSpPr>
            <p:cNvPr name="TextBox 13" id="13"/>
            <p:cNvSpPr txBox="true"/>
            <p:nvPr/>
          </p:nvSpPr>
          <p:spPr>
            <a:xfrm rot="0">
              <a:off x="0" y="9525"/>
              <a:ext cx="4826000" cy="547581"/>
            </a:xfrm>
            <a:prstGeom prst="rect">
              <a:avLst/>
            </a:prstGeom>
          </p:spPr>
          <p:txBody>
            <a:bodyPr anchor="t" rtlCol="false" tIns="0" lIns="0" bIns="0" rIns="0">
              <a:spAutoFit/>
            </a:bodyPr>
            <a:lstStyle/>
            <a:p>
              <a:pPr algn="l">
                <a:lnSpc>
                  <a:spcPts val="3219"/>
                </a:lnSpc>
              </a:pPr>
              <a:r>
                <a:rPr lang="en-US" sz="2799" b="true">
                  <a:solidFill>
                    <a:srgbClr val="122033"/>
                  </a:solidFill>
                  <a:latin typeface="Be Vietnam Ultra-Bold"/>
                  <a:ea typeface="Be Vietnam Ultra-Bold"/>
                  <a:cs typeface="Be Vietnam Ultra-Bold"/>
                  <a:sym typeface="Be Vietnam Ultra-Bold"/>
                </a:rPr>
                <a:t>Xu hướng</a:t>
              </a:r>
            </a:p>
          </p:txBody>
        </p:sp>
        <p:sp>
          <p:nvSpPr>
            <p:cNvPr name="TextBox 14" id="14"/>
            <p:cNvSpPr txBox="true"/>
            <p:nvPr/>
          </p:nvSpPr>
          <p:spPr>
            <a:xfrm rot="0">
              <a:off x="0" y="986366"/>
              <a:ext cx="4826000" cy="5681981"/>
            </a:xfrm>
            <a:prstGeom prst="rect">
              <a:avLst/>
            </a:prstGeom>
          </p:spPr>
          <p:txBody>
            <a:bodyPr anchor="t" rtlCol="false" tIns="0" lIns="0" bIns="0" rIns="0">
              <a:spAutoFit/>
            </a:bodyPr>
            <a:lstStyle/>
            <a:p>
              <a:pPr algn="l">
                <a:lnSpc>
                  <a:spcPts val="3779"/>
                </a:lnSpc>
              </a:pPr>
              <a:r>
                <a:rPr lang="en-US" sz="2799">
                  <a:solidFill>
                    <a:srgbClr val="122033"/>
                  </a:solidFill>
                  <a:latin typeface="Be Vietnam"/>
                  <a:ea typeface="Be Vietnam"/>
                  <a:cs typeface="Be Vietnam"/>
                  <a:sym typeface="Be Vietnam"/>
                </a:rPr>
                <a:t>Sự phát triển của Internet, thiết bị di động, cảm biến và công nghệ điện toán đám mây đã tạo điều kiện cho các thiết bị gia dụng kết nối với nhau.</a:t>
              </a:r>
            </a:p>
            <a:p>
              <a:pPr algn="l">
                <a:lnSpc>
                  <a:spcPts val="3779"/>
                </a:lnSpc>
              </a:pPr>
            </a:p>
          </p:txBody>
        </p:sp>
      </p:grpSp>
      <p:grpSp>
        <p:nvGrpSpPr>
          <p:cNvPr name="Group 15" id="15"/>
          <p:cNvGrpSpPr/>
          <p:nvPr/>
        </p:nvGrpSpPr>
        <p:grpSpPr>
          <a:xfrm rot="0">
            <a:off x="7334250" y="3714750"/>
            <a:ext cx="3619500" cy="4525010"/>
            <a:chOff x="0" y="0"/>
            <a:chExt cx="4826000" cy="6033347"/>
          </a:xfrm>
        </p:grpSpPr>
        <p:sp>
          <p:nvSpPr>
            <p:cNvPr name="TextBox 16" id="16"/>
            <p:cNvSpPr txBox="true"/>
            <p:nvPr/>
          </p:nvSpPr>
          <p:spPr>
            <a:xfrm rot="0">
              <a:off x="0" y="9525"/>
              <a:ext cx="4826000" cy="547582"/>
            </a:xfrm>
            <a:prstGeom prst="rect">
              <a:avLst/>
            </a:prstGeom>
          </p:spPr>
          <p:txBody>
            <a:bodyPr anchor="t" rtlCol="false" tIns="0" lIns="0" bIns="0" rIns="0">
              <a:spAutoFit/>
            </a:bodyPr>
            <a:lstStyle/>
            <a:p>
              <a:pPr algn="l">
                <a:lnSpc>
                  <a:spcPts val="3219"/>
                </a:lnSpc>
              </a:pPr>
              <a:r>
                <a:rPr lang="en-US" sz="2799" b="true">
                  <a:solidFill>
                    <a:srgbClr val="122033"/>
                  </a:solidFill>
                  <a:latin typeface="Be Vietnam Ultra-Bold"/>
                  <a:ea typeface="Be Vietnam Ultra-Bold"/>
                  <a:cs typeface="Be Vietnam Ultra-Bold"/>
                  <a:sym typeface="Be Vietnam Ultra-Bold"/>
                </a:rPr>
                <a:t>Đời sống</a:t>
              </a:r>
            </a:p>
          </p:txBody>
        </p:sp>
        <p:sp>
          <p:nvSpPr>
            <p:cNvPr name="TextBox 17" id="17"/>
            <p:cNvSpPr txBox="true"/>
            <p:nvPr/>
          </p:nvSpPr>
          <p:spPr>
            <a:xfrm rot="0">
              <a:off x="0" y="986367"/>
              <a:ext cx="4826000" cy="5046980"/>
            </a:xfrm>
            <a:prstGeom prst="rect">
              <a:avLst/>
            </a:prstGeom>
          </p:spPr>
          <p:txBody>
            <a:bodyPr anchor="t" rtlCol="false" tIns="0" lIns="0" bIns="0" rIns="0">
              <a:spAutoFit/>
            </a:bodyPr>
            <a:lstStyle/>
            <a:p>
              <a:pPr algn="l">
                <a:lnSpc>
                  <a:spcPts val="3779"/>
                </a:lnSpc>
              </a:pPr>
              <a:r>
                <a:rPr lang="en-US" sz="2799">
                  <a:solidFill>
                    <a:srgbClr val="122033"/>
                  </a:solidFill>
                  <a:latin typeface="Be Vietnam"/>
                  <a:ea typeface="Be Vietnam"/>
                  <a:cs typeface="Be Vietnam"/>
                  <a:sym typeface="Be Vietnam"/>
                </a:rPr>
                <a:t> Người dùng ngày càng có nhu cầu tự động hóa các hoạt động trong gia đình như bật đèn, điều hòa, giám sát an ninh và kiểm soát điện năng.</a:t>
              </a:r>
            </a:p>
          </p:txBody>
        </p:sp>
      </p:grpSp>
      <p:grpSp>
        <p:nvGrpSpPr>
          <p:cNvPr name="Group 18" id="18"/>
          <p:cNvGrpSpPr/>
          <p:nvPr/>
        </p:nvGrpSpPr>
        <p:grpSpPr>
          <a:xfrm rot="0">
            <a:off x="13192125" y="3714750"/>
            <a:ext cx="3619500" cy="4525010"/>
            <a:chOff x="0" y="0"/>
            <a:chExt cx="4826000" cy="6033347"/>
          </a:xfrm>
        </p:grpSpPr>
        <p:sp>
          <p:nvSpPr>
            <p:cNvPr name="TextBox 19" id="19"/>
            <p:cNvSpPr txBox="true"/>
            <p:nvPr/>
          </p:nvSpPr>
          <p:spPr>
            <a:xfrm rot="0">
              <a:off x="0" y="9525"/>
              <a:ext cx="4826000" cy="547582"/>
            </a:xfrm>
            <a:prstGeom prst="rect">
              <a:avLst/>
            </a:prstGeom>
          </p:spPr>
          <p:txBody>
            <a:bodyPr anchor="t" rtlCol="false" tIns="0" lIns="0" bIns="0" rIns="0">
              <a:spAutoFit/>
            </a:bodyPr>
            <a:lstStyle/>
            <a:p>
              <a:pPr algn="l">
                <a:lnSpc>
                  <a:spcPts val="3219"/>
                </a:lnSpc>
              </a:pPr>
              <a:r>
                <a:rPr lang="en-US" sz="2799" b="true">
                  <a:solidFill>
                    <a:srgbClr val="122033"/>
                  </a:solidFill>
                  <a:latin typeface="Be Vietnam Ultra-Bold"/>
                  <a:ea typeface="Be Vietnam Ultra-Bold"/>
                  <a:cs typeface="Be Vietnam Ultra-Bold"/>
                  <a:sym typeface="Be Vietnam Ultra-Bold"/>
                </a:rPr>
                <a:t>Tác động</a:t>
              </a:r>
            </a:p>
          </p:txBody>
        </p:sp>
        <p:sp>
          <p:nvSpPr>
            <p:cNvPr name="TextBox 20" id="20"/>
            <p:cNvSpPr txBox="true"/>
            <p:nvPr/>
          </p:nvSpPr>
          <p:spPr>
            <a:xfrm rot="0">
              <a:off x="0" y="986367"/>
              <a:ext cx="4826000" cy="5046980"/>
            </a:xfrm>
            <a:prstGeom prst="rect">
              <a:avLst/>
            </a:prstGeom>
          </p:spPr>
          <p:txBody>
            <a:bodyPr anchor="t" rtlCol="false" tIns="0" lIns="0" bIns="0" rIns="0">
              <a:spAutoFit/>
            </a:bodyPr>
            <a:lstStyle/>
            <a:p>
              <a:pPr algn="l">
                <a:lnSpc>
                  <a:spcPts val="3779"/>
                </a:lnSpc>
              </a:pPr>
              <a:r>
                <a:rPr lang="en-US" sz="2799">
                  <a:solidFill>
                    <a:srgbClr val="122033"/>
                  </a:solidFill>
                  <a:latin typeface="Be Vietnam"/>
                  <a:ea typeface="Be Vietnam"/>
                  <a:cs typeface="Be Vietnam"/>
                  <a:sym typeface="Be Vietnam"/>
                </a:rPr>
                <a:t>IoT trở thành một trong những xu hướng CNTT được ứng dụng trong quá trình xây dựng nhà thông minh (Smart Home).</a:t>
              </a:r>
            </a:p>
            <a:p>
              <a:pPr algn="l">
                <a:lnSpc>
                  <a:spcPts val="3779"/>
                </a:lnSpc>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sp>
        <p:nvSpPr>
          <p:cNvPr name="TextBox 2" id="2"/>
          <p:cNvSpPr txBox="true"/>
          <p:nvPr/>
        </p:nvSpPr>
        <p:spPr>
          <a:xfrm rot="0">
            <a:off x="1047750" y="847725"/>
            <a:ext cx="6667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IoT là gì?</a:t>
            </a:r>
          </a:p>
        </p:txBody>
      </p:sp>
      <p:sp>
        <p:nvSpPr>
          <p:cNvPr name="TextBox 3" id="3"/>
          <p:cNvSpPr txBox="true"/>
          <p:nvPr/>
        </p:nvSpPr>
        <p:spPr>
          <a:xfrm rot="0">
            <a:off x="1047750" y="2181225"/>
            <a:ext cx="7239000" cy="2187575"/>
          </a:xfrm>
          <a:prstGeom prst="rect">
            <a:avLst/>
          </a:prstGeom>
        </p:spPr>
        <p:txBody>
          <a:bodyPr anchor="t" rtlCol="false" tIns="0" lIns="0" bIns="0" rIns="0">
            <a:spAutoFit/>
          </a:bodyPr>
          <a:lstStyle/>
          <a:p>
            <a:pPr algn="l">
              <a:lnSpc>
                <a:spcPts val="4374"/>
              </a:lnSpc>
            </a:pPr>
            <a:r>
              <a:rPr lang="en-US" sz="3124">
                <a:solidFill>
                  <a:srgbClr val="122033"/>
                </a:solidFill>
                <a:latin typeface="Be Vietnam"/>
                <a:ea typeface="Be Vietnam"/>
                <a:cs typeface="Be Vietnam"/>
                <a:sym typeface="Be Vietnam"/>
              </a:rPr>
              <a:t>IoT (Interne</a:t>
            </a:r>
            <a:r>
              <a:rPr lang="en-US" sz="3124">
                <a:solidFill>
                  <a:srgbClr val="122033"/>
                </a:solidFill>
                <a:latin typeface="Be Vietnam"/>
                <a:ea typeface="Be Vietnam"/>
                <a:cs typeface="Be Vietnam"/>
                <a:sym typeface="Be Vietnam"/>
              </a:rPr>
              <a:t>t of Things) là mạng lưới các thiết bị vật lý được tích hợp cảm biến, phần mềm và khả năng kết nối để thu thập, trao đổi dữ liệu.</a:t>
            </a:r>
          </a:p>
        </p:txBody>
      </p:sp>
      <p:sp>
        <p:nvSpPr>
          <p:cNvPr name="TextBox 4" id="4"/>
          <p:cNvSpPr txBox="true"/>
          <p:nvPr/>
        </p:nvSpPr>
        <p:spPr>
          <a:xfrm rot="0">
            <a:off x="762000" y="7068185"/>
            <a:ext cx="7239000" cy="446406"/>
          </a:xfrm>
          <a:prstGeom prst="rect">
            <a:avLst/>
          </a:prstGeom>
        </p:spPr>
        <p:txBody>
          <a:bodyPr anchor="t" rtlCol="false" tIns="0" lIns="0" bIns="0" rIns="0">
            <a:spAutoFit/>
          </a:bodyPr>
          <a:lstStyle/>
          <a:p>
            <a:pPr algn="l">
              <a:lnSpc>
                <a:spcPts val="3744"/>
              </a:lnSpc>
            </a:pPr>
            <a:r>
              <a:rPr lang="en-US" sz="2674" spc="213" b="true">
                <a:solidFill>
                  <a:srgbClr val="2D7FF9"/>
                </a:solidFill>
                <a:latin typeface="Be Vietnam Ultra-Bold"/>
                <a:ea typeface="Be Vietnam Ultra-Bold"/>
                <a:cs typeface="Be Vietnam Ultra-Bold"/>
                <a:sym typeface="Be Vietnam Ultra-Bold"/>
              </a:rPr>
              <a:t>KẾT NỐI  →  DỮ LIỆU  →  HÀNH ĐỘNG</a:t>
            </a:r>
          </a:p>
        </p:txBody>
      </p:sp>
      <p:grpSp>
        <p:nvGrpSpPr>
          <p:cNvPr name="Group 5" id="5"/>
          <p:cNvGrpSpPr/>
          <p:nvPr/>
        </p:nvGrpSpPr>
        <p:grpSpPr>
          <a:xfrm rot="0">
            <a:off x="12477750" y="3797300"/>
            <a:ext cx="2381250" cy="1143000"/>
            <a:chOff x="0" y="0"/>
            <a:chExt cx="3175000" cy="1524000"/>
          </a:xfrm>
        </p:grpSpPr>
        <p:sp>
          <p:nvSpPr>
            <p:cNvPr name="Freeform 6" id="6"/>
            <p:cNvSpPr/>
            <p:nvPr/>
          </p:nvSpPr>
          <p:spPr>
            <a:xfrm flipH="false" flipV="false" rot="0">
              <a:off x="0" y="0"/>
              <a:ext cx="3175000" cy="1524000"/>
            </a:xfrm>
            <a:custGeom>
              <a:avLst/>
              <a:gdLst/>
              <a:ahLst/>
              <a:cxnLst/>
              <a:rect r="r" b="b" t="t" l="l"/>
              <a:pathLst>
                <a:path h="1524000" w="3175000">
                  <a:moveTo>
                    <a:pt x="91440" y="0"/>
                  </a:moveTo>
                  <a:lnTo>
                    <a:pt x="3083560" y="0"/>
                  </a:lnTo>
                  <a:cubicBezTo>
                    <a:pt x="3134061" y="0"/>
                    <a:pt x="3175000" y="40939"/>
                    <a:pt x="3175000" y="91440"/>
                  </a:cubicBezTo>
                  <a:lnTo>
                    <a:pt x="3175000" y="1432560"/>
                  </a:lnTo>
                  <a:cubicBezTo>
                    <a:pt x="3175000" y="1483061"/>
                    <a:pt x="3134061" y="1524000"/>
                    <a:pt x="3083560" y="1524000"/>
                  </a:cubicBezTo>
                  <a:lnTo>
                    <a:pt x="91440" y="1524000"/>
                  </a:lnTo>
                  <a:cubicBezTo>
                    <a:pt x="40939" y="1524000"/>
                    <a:pt x="0" y="1483061"/>
                    <a:pt x="0" y="1432560"/>
                  </a:cubicBezTo>
                  <a:lnTo>
                    <a:pt x="0" y="91440"/>
                  </a:lnTo>
                  <a:cubicBezTo>
                    <a:pt x="0" y="40939"/>
                    <a:pt x="40939" y="0"/>
                    <a:pt x="91440" y="0"/>
                  </a:cubicBezTo>
                  <a:close/>
                </a:path>
              </a:pathLst>
            </a:custGeom>
            <a:solidFill>
              <a:srgbClr val="2D7FF9"/>
            </a:solidFill>
            <a:ln cap="sq">
              <a:noFill/>
              <a:prstDash val="solid"/>
              <a:miter/>
            </a:ln>
          </p:spPr>
        </p:sp>
        <p:sp>
          <p:nvSpPr>
            <p:cNvPr name="TextBox 7" id="7"/>
            <p:cNvSpPr txBox="true"/>
            <p:nvPr/>
          </p:nvSpPr>
          <p:spPr>
            <a:xfrm>
              <a:off x="0" y="9525"/>
              <a:ext cx="3175000" cy="1514475"/>
            </a:xfrm>
            <a:prstGeom prst="rect">
              <a:avLst/>
            </a:prstGeom>
          </p:spPr>
          <p:txBody>
            <a:bodyPr anchor="ctr" rtlCol="false" tIns="50800" lIns="50800" bIns="50800" rIns="50800"/>
            <a:lstStyle/>
            <a:p>
              <a:pPr algn="ctr">
                <a:lnSpc>
                  <a:spcPts val="2529"/>
                </a:lnSpc>
              </a:pPr>
              <a:r>
                <a:rPr lang="en-US" sz="2199" b="true">
                  <a:solidFill>
                    <a:srgbClr val="FFFFFF"/>
                  </a:solidFill>
                  <a:latin typeface="Be Vietnam Ultra-Bold"/>
                  <a:ea typeface="Be Vietnam Ultra-Bold"/>
                  <a:cs typeface="Be Vietnam Ultra-Bold"/>
                  <a:sym typeface="Be Vietnam Ultra-Bold"/>
                </a:rPr>
                <a:t>NỀN TẢNG IoT</a:t>
              </a:r>
            </a:p>
          </p:txBody>
        </p:sp>
      </p:grpSp>
      <p:sp>
        <p:nvSpPr>
          <p:cNvPr name="AutoShape 8" id="8"/>
          <p:cNvSpPr/>
          <p:nvPr/>
        </p:nvSpPr>
        <p:spPr>
          <a:xfrm flipH="true" flipV="true">
            <a:off x="11096625" y="2076450"/>
            <a:ext cx="2571750" cy="2495550"/>
          </a:xfrm>
          <a:prstGeom prst="line">
            <a:avLst/>
          </a:prstGeom>
          <a:ln cap="rnd" w="38100">
            <a:solidFill>
              <a:srgbClr val="6B7684"/>
            </a:solidFill>
            <a:prstDash val="solid"/>
            <a:headEnd type="none" len="sm" w="sm"/>
            <a:tailEnd type="none" len="sm" w="sm"/>
          </a:ln>
        </p:spPr>
      </p:sp>
      <p:grpSp>
        <p:nvGrpSpPr>
          <p:cNvPr name="Group 9" id="9"/>
          <p:cNvGrpSpPr/>
          <p:nvPr/>
        </p:nvGrpSpPr>
        <p:grpSpPr>
          <a:xfrm rot="0">
            <a:off x="10001250" y="1619250"/>
            <a:ext cx="2190750" cy="904875"/>
            <a:chOff x="0" y="0"/>
            <a:chExt cx="2921000" cy="1206500"/>
          </a:xfrm>
        </p:grpSpPr>
        <p:sp>
          <p:nvSpPr>
            <p:cNvPr name="Freeform 10" id="10"/>
            <p:cNvSpPr/>
            <p:nvPr/>
          </p:nvSpPr>
          <p:spPr>
            <a:xfrm flipH="false" flipV="false" rot="0">
              <a:off x="0" y="0"/>
              <a:ext cx="2921000" cy="1206500"/>
            </a:xfrm>
            <a:custGeom>
              <a:avLst/>
              <a:gdLst/>
              <a:ahLst/>
              <a:cxnLst/>
              <a:rect r="r" b="b" t="t" l="l"/>
              <a:pathLst>
                <a:path h="1206500" w="2921000">
                  <a:moveTo>
                    <a:pt x="99391" y="0"/>
                  </a:moveTo>
                  <a:lnTo>
                    <a:pt x="2821609" y="0"/>
                  </a:lnTo>
                  <a:cubicBezTo>
                    <a:pt x="2876501" y="0"/>
                    <a:pt x="2921000" y="44499"/>
                    <a:pt x="2921000" y="99391"/>
                  </a:cubicBezTo>
                  <a:lnTo>
                    <a:pt x="2921000" y="1107109"/>
                  </a:lnTo>
                  <a:cubicBezTo>
                    <a:pt x="2921000" y="1162001"/>
                    <a:pt x="2876501" y="1206500"/>
                    <a:pt x="2821609" y="1206500"/>
                  </a:cubicBezTo>
                  <a:lnTo>
                    <a:pt x="99391" y="1206500"/>
                  </a:lnTo>
                  <a:cubicBezTo>
                    <a:pt x="44499" y="1206500"/>
                    <a:pt x="0" y="1162001"/>
                    <a:pt x="0" y="1107109"/>
                  </a:cubicBezTo>
                  <a:lnTo>
                    <a:pt x="0" y="99391"/>
                  </a:lnTo>
                  <a:cubicBezTo>
                    <a:pt x="0" y="44499"/>
                    <a:pt x="44499" y="0"/>
                    <a:pt x="99391" y="0"/>
                  </a:cubicBezTo>
                  <a:close/>
                </a:path>
              </a:pathLst>
            </a:custGeom>
            <a:solidFill>
              <a:srgbClr val="46D9C5"/>
            </a:solidFill>
            <a:ln cap="sq">
              <a:noFill/>
              <a:prstDash val="solid"/>
              <a:miter/>
            </a:ln>
          </p:spPr>
        </p:sp>
        <p:sp>
          <p:nvSpPr>
            <p:cNvPr name="TextBox 11" id="11"/>
            <p:cNvSpPr txBox="true"/>
            <p:nvPr/>
          </p:nvSpPr>
          <p:spPr>
            <a:xfrm>
              <a:off x="0" y="9525"/>
              <a:ext cx="2921000" cy="11969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Cảm biến</a:t>
              </a:r>
            </a:p>
          </p:txBody>
        </p:sp>
      </p:grpSp>
      <p:sp>
        <p:nvSpPr>
          <p:cNvPr name="AutoShape 12" id="12"/>
          <p:cNvSpPr/>
          <p:nvPr/>
        </p:nvSpPr>
        <p:spPr>
          <a:xfrm flipV="true">
            <a:off x="13668375" y="2076450"/>
            <a:ext cx="2190750" cy="2495550"/>
          </a:xfrm>
          <a:prstGeom prst="line">
            <a:avLst/>
          </a:prstGeom>
          <a:ln cap="rnd" w="38100">
            <a:solidFill>
              <a:srgbClr val="6B7684"/>
            </a:solidFill>
            <a:prstDash val="solid"/>
            <a:headEnd type="none" len="sm" w="sm"/>
            <a:tailEnd type="none" len="sm" w="sm"/>
          </a:ln>
        </p:spPr>
      </p:sp>
      <p:grpSp>
        <p:nvGrpSpPr>
          <p:cNvPr name="Group 13" id="13"/>
          <p:cNvGrpSpPr/>
          <p:nvPr/>
        </p:nvGrpSpPr>
        <p:grpSpPr>
          <a:xfrm rot="0">
            <a:off x="14763750" y="1619250"/>
            <a:ext cx="2190750" cy="904875"/>
            <a:chOff x="0" y="0"/>
            <a:chExt cx="2921000" cy="1206500"/>
          </a:xfrm>
        </p:grpSpPr>
        <p:sp>
          <p:nvSpPr>
            <p:cNvPr name="Freeform 14" id="14"/>
            <p:cNvSpPr/>
            <p:nvPr/>
          </p:nvSpPr>
          <p:spPr>
            <a:xfrm flipH="false" flipV="false" rot="0">
              <a:off x="0" y="0"/>
              <a:ext cx="2921000" cy="1206500"/>
            </a:xfrm>
            <a:custGeom>
              <a:avLst/>
              <a:gdLst/>
              <a:ahLst/>
              <a:cxnLst/>
              <a:rect r="r" b="b" t="t" l="l"/>
              <a:pathLst>
                <a:path h="1206500" w="2921000">
                  <a:moveTo>
                    <a:pt x="99391" y="0"/>
                  </a:moveTo>
                  <a:lnTo>
                    <a:pt x="2821609" y="0"/>
                  </a:lnTo>
                  <a:cubicBezTo>
                    <a:pt x="2876501" y="0"/>
                    <a:pt x="2921000" y="44499"/>
                    <a:pt x="2921000" y="99391"/>
                  </a:cubicBezTo>
                  <a:lnTo>
                    <a:pt x="2921000" y="1107109"/>
                  </a:lnTo>
                  <a:cubicBezTo>
                    <a:pt x="2921000" y="1162001"/>
                    <a:pt x="2876501" y="1206500"/>
                    <a:pt x="2821609" y="1206500"/>
                  </a:cubicBezTo>
                  <a:lnTo>
                    <a:pt x="99391" y="1206500"/>
                  </a:lnTo>
                  <a:cubicBezTo>
                    <a:pt x="44499" y="1206500"/>
                    <a:pt x="0" y="1162001"/>
                    <a:pt x="0" y="1107109"/>
                  </a:cubicBezTo>
                  <a:lnTo>
                    <a:pt x="0" y="99391"/>
                  </a:lnTo>
                  <a:cubicBezTo>
                    <a:pt x="0" y="44499"/>
                    <a:pt x="44499" y="0"/>
                    <a:pt x="99391" y="0"/>
                  </a:cubicBezTo>
                  <a:close/>
                </a:path>
              </a:pathLst>
            </a:custGeom>
            <a:solidFill>
              <a:srgbClr val="FF8A4C"/>
            </a:solidFill>
            <a:ln cap="sq">
              <a:noFill/>
              <a:prstDash val="solid"/>
              <a:miter/>
            </a:ln>
          </p:spPr>
        </p:sp>
        <p:sp>
          <p:nvSpPr>
            <p:cNvPr name="TextBox 15" id="15"/>
            <p:cNvSpPr txBox="true"/>
            <p:nvPr/>
          </p:nvSpPr>
          <p:spPr>
            <a:xfrm>
              <a:off x="0" y="9525"/>
              <a:ext cx="2921000" cy="11969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Thiết bị</a:t>
              </a:r>
            </a:p>
          </p:txBody>
        </p:sp>
      </p:grpSp>
      <p:sp>
        <p:nvSpPr>
          <p:cNvPr name="AutoShape 16" id="16"/>
          <p:cNvSpPr/>
          <p:nvPr/>
        </p:nvSpPr>
        <p:spPr>
          <a:xfrm flipH="true">
            <a:off x="11096625" y="4572000"/>
            <a:ext cx="2571750" cy="2743200"/>
          </a:xfrm>
          <a:prstGeom prst="line">
            <a:avLst/>
          </a:prstGeom>
          <a:ln cap="rnd" w="38100">
            <a:solidFill>
              <a:srgbClr val="6B7684"/>
            </a:solidFill>
            <a:prstDash val="solid"/>
            <a:headEnd type="none" len="sm" w="sm"/>
            <a:tailEnd type="none" len="sm" w="sm"/>
          </a:ln>
        </p:spPr>
      </p:sp>
      <p:grpSp>
        <p:nvGrpSpPr>
          <p:cNvPr name="Group 17" id="17"/>
          <p:cNvGrpSpPr/>
          <p:nvPr/>
        </p:nvGrpSpPr>
        <p:grpSpPr>
          <a:xfrm rot="0">
            <a:off x="10001250" y="6858000"/>
            <a:ext cx="2190750" cy="904875"/>
            <a:chOff x="0" y="0"/>
            <a:chExt cx="2921000" cy="1206500"/>
          </a:xfrm>
        </p:grpSpPr>
        <p:sp>
          <p:nvSpPr>
            <p:cNvPr name="Freeform 18" id="18"/>
            <p:cNvSpPr/>
            <p:nvPr/>
          </p:nvSpPr>
          <p:spPr>
            <a:xfrm flipH="false" flipV="false" rot="0">
              <a:off x="0" y="0"/>
              <a:ext cx="2921000" cy="1206500"/>
            </a:xfrm>
            <a:custGeom>
              <a:avLst/>
              <a:gdLst/>
              <a:ahLst/>
              <a:cxnLst/>
              <a:rect r="r" b="b" t="t" l="l"/>
              <a:pathLst>
                <a:path h="1206500" w="2921000">
                  <a:moveTo>
                    <a:pt x="99391" y="0"/>
                  </a:moveTo>
                  <a:lnTo>
                    <a:pt x="2821609" y="0"/>
                  </a:lnTo>
                  <a:cubicBezTo>
                    <a:pt x="2876501" y="0"/>
                    <a:pt x="2921000" y="44499"/>
                    <a:pt x="2921000" y="99391"/>
                  </a:cubicBezTo>
                  <a:lnTo>
                    <a:pt x="2921000" y="1107109"/>
                  </a:lnTo>
                  <a:cubicBezTo>
                    <a:pt x="2921000" y="1162001"/>
                    <a:pt x="2876501" y="1206500"/>
                    <a:pt x="2821609" y="1206500"/>
                  </a:cubicBezTo>
                  <a:lnTo>
                    <a:pt x="99391" y="1206500"/>
                  </a:lnTo>
                  <a:cubicBezTo>
                    <a:pt x="44499" y="1206500"/>
                    <a:pt x="0" y="1162001"/>
                    <a:pt x="0" y="1107109"/>
                  </a:cubicBezTo>
                  <a:lnTo>
                    <a:pt x="0" y="99391"/>
                  </a:lnTo>
                  <a:cubicBezTo>
                    <a:pt x="0" y="44499"/>
                    <a:pt x="44499" y="0"/>
                    <a:pt x="99391" y="0"/>
                  </a:cubicBezTo>
                  <a:close/>
                </a:path>
              </a:pathLst>
            </a:custGeom>
            <a:solidFill>
              <a:srgbClr val="46D9C5"/>
            </a:solidFill>
            <a:ln cap="sq">
              <a:noFill/>
              <a:prstDash val="solid"/>
              <a:miter/>
            </a:ln>
          </p:spPr>
        </p:sp>
        <p:sp>
          <p:nvSpPr>
            <p:cNvPr name="TextBox 19" id="19"/>
            <p:cNvSpPr txBox="true"/>
            <p:nvPr/>
          </p:nvSpPr>
          <p:spPr>
            <a:xfrm>
              <a:off x="0" y="9525"/>
              <a:ext cx="2921000" cy="11969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Người dùng</a:t>
              </a:r>
            </a:p>
          </p:txBody>
        </p:sp>
      </p:grpSp>
      <p:sp>
        <p:nvSpPr>
          <p:cNvPr name="AutoShape 20" id="20"/>
          <p:cNvSpPr/>
          <p:nvPr/>
        </p:nvSpPr>
        <p:spPr>
          <a:xfrm>
            <a:off x="13668375" y="4572000"/>
            <a:ext cx="2190750" cy="2743200"/>
          </a:xfrm>
          <a:prstGeom prst="line">
            <a:avLst/>
          </a:prstGeom>
          <a:ln cap="rnd" w="38100">
            <a:solidFill>
              <a:srgbClr val="6B7684"/>
            </a:solidFill>
            <a:prstDash val="solid"/>
            <a:headEnd type="none" len="sm" w="sm"/>
            <a:tailEnd type="none" len="sm" w="sm"/>
          </a:ln>
        </p:spPr>
      </p:sp>
      <p:grpSp>
        <p:nvGrpSpPr>
          <p:cNvPr name="Group 21" id="21"/>
          <p:cNvGrpSpPr/>
          <p:nvPr/>
        </p:nvGrpSpPr>
        <p:grpSpPr>
          <a:xfrm rot="0">
            <a:off x="14763750" y="6858000"/>
            <a:ext cx="2190750" cy="904875"/>
            <a:chOff x="0" y="0"/>
            <a:chExt cx="2921000" cy="1206500"/>
          </a:xfrm>
        </p:grpSpPr>
        <p:sp>
          <p:nvSpPr>
            <p:cNvPr name="Freeform 22" id="22"/>
            <p:cNvSpPr/>
            <p:nvPr/>
          </p:nvSpPr>
          <p:spPr>
            <a:xfrm flipH="false" flipV="false" rot="0">
              <a:off x="0" y="0"/>
              <a:ext cx="2921000" cy="1206500"/>
            </a:xfrm>
            <a:custGeom>
              <a:avLst/>
              <a:gdLst/>
              <a:ahLst/>
              <a:cxnLst/>
              <a:rect r="r" b="b" t="t" l="l"/>
              <a:pathLst>
                <a:path h="1206500" w="2921000">
                  <a:moveTo>
                    <a:pt x="99391" y="0"/>
                  </a:moveTo>
                  <a:lnTo>
                    <a:pt x="2821609" y="0"/>
                  </a:lnTo>
                  <a:cubicBezTo>
                    <a:pt x="2876501" y="0"/>
                    <a:pt x="2921000" y="44499"/>
                    <a:pt x="2921000" y="99391"/>
                  </a:cubicBezTo>
                  <a:lnTo>
                    <a:pt x="2921000" y="1107109"/>
                  </a:lnTo>
                  <a:cubicBezTo>
                    <a:pt x="2921000" y="1162001"/>
                    <a:pt x="2876501" y="1206500"/>
                    <a:pt x="2821609" y="1206500"/>
                  </a:cubicBezTo>
                  <a:lnTo>
                    <a:pt x="99391" y="1206500"/>
                  </a:lnTo>
                  <a:cubicBezTo>
                    <a:pt x="44499" y="1206500"/>
                    <a:pt x="0" y="1162001"/>
                    <a:pt x="0" y="1107109"/>
                  </a:cubicBezTo>
                  <a:lnTo>
                    <a:pt x="0" y="99391"/>
                  </a:lnTo>
                  <a:cubicBezTo>
                    <a:pt x="0" y="44499"/>
                    <a:pt x="44499" y="0"/>
                    <a:pt x="99391" y="0"/>
                  </a:cubicBezTo>
                  <a:close/>
                </a:path>
              </a:pathLst>
            </a:custGeom>
            <a:solidFill>
              <a:srgbClr val="FF8A4C"/>
            </a:solidFill>
            <a:ln cap="sq">
              <a:noFill/>
              <a:prstDash val="solid"/>
              <a:miter/>
            </a:ln>
          </p:spPr>
        </p:sp>
        <p:sp>
          <p:nvSpPr>
            <p:cNvPr name="TextBox 23" id="23"/>
            <p:cNvSpPr txBox="true"/>
            <p:nvPr/>
          </p:nvSpPr>
          <p:spPr>
            <a:xfrm>
              <a:off x="0" y="9525"/>
              <a:ext cx="2921000" cy="11969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Dịch vụ</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0B1728"/>
        </a:solidFill>
      </p:bgPr>
    </p:bg>
    <p:spTree>
      <p:nvGrpSpPr>
        <p:cNvPr id="1" name=""/>
        <p:cNvGrpSpPr/>
        <p:nvPr/>
      </p:nvGrpSpPr>
      <p:grpSpPr>
        <a:xfrm>
          <a:off x="0" y="0"/>
          <a:ext cx="0" cy="0"/>
          <a:chOff x="0" y="0"/>
          <a:chExt cx="0" cy="0"/>
        </a:xfrm>
      </p:grpSpPr>
      <p:grpSp>
        <p:nvGrpSpPr>
          <p:cNvPr name="Group 2" id="2"/>
          <p:cNvGrpSpPr/>
          <p:nvPr/>
        </p:nvGrpSpPr>
        <p:grpSpPr>
          <a:xfrm rot="0">
            <a:off x="8905875" y="3810000"/>
            <a:ext cx="38100" cy="3429000"/>
            <a:chOff x="0" y="0"/>
            <a:chExt cx="50800" cy="4572000"/>
          </a:xfrm>
        </p:grpSpPr>
        <p:sp>
          <p:nvSpPr>
            <p:cNvPr name="Freeform 3" id="3"/>
            <p:cNvSpPr/>
            <p:nvPr/>
          </p:nvSpPr>
          <p:spPr>
            <a:xfrm flipH="false" flipV="false" rot="0">
              <a:off x="0" y="0"/>
              <a:ext cx="50800" cy="4572000"/>
            </a:xfrm>
            <a:custGeom>
              <a:avLst/>
              <a:gdLst/>
              <a:ahLst/>
              <a:cxnLst/>
              <a:rect r="r" b="b" t="t" l="l"/>
              <a:pathLst>
                <a:path h="4572000" w="50800">
                  <a:moveTo>
                    <a:pt x="0" y="0"/>
                  </a:moveTo>
                  <a:lnTo>
                    <a:pt x="50800" y="0"/>
                  </a:lnTo>
                  <a:lnTo>
                    <a:pt x="50800" y="4572000"/>
                  </a:lnTo>
                  <a:lnTo>
                    <a:pt x="0" y="4572000"/>
                  </a:lnTo>
                  <a:close/>
                </a:path>
              </a:pathLst>
            </a:custGeom>
            <a:solidFill>
              <a:srgbClr val="2D7FF9"/>
            </a:solidFill>
            <a:ln cap="sq">
              <a:noFill/>
              <a:prstDash val="solid"/>
              <a:miter/>
            </a:ln>
          </p:spPr>
        </p:sp>
        <p:sp>
          <p:nvSpPr>
            <p:cNvPr name="TextBox 4" id="4"/>
            <p:cNvSpPr txBox="true"/>
            <p:nvPr/>
          </p:nvSpPr>
          <p:spPr>
            <a:xfrm>
              <a:off x="0" y="-38100"/>
              <a:ext cx="50800" cy="4610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1019175"/>
            <a:ext cx="9525000" cy="1018032"/>
          </a:xfrm>
          <a:prstGeom prst="rect">
            <a:avLst/>
          </a:prstGeom>
        </p:spPr>
        <p:txBody>
          <a:bodyPr anchor="t" rtlCol="false" tIns="0" lIns="0" bIns="0" rIns="0">
            <a:spAutoFit/>
          </a:bodyPr>
          <a:lstStyle/>
          <a:p>
            <a:pPr algn="l">
              <a:lnSpc>
                <a:spcPts val="7644"/>
              </a:lnSpc>
            </a:pPr>
            <a:r>
              <a:rPr lang="en-US" sz="7800" b="true">
                <a:solidFill>
                  <a:srgbClr val="FFFFFF"/>
                </a:solidFill>
                <a:latin typeface="Barlow Condensed Bold"/>
                <a:ea typeface="Barlow Condensed Bold"/>
                <a:cs typeface="Barlow Condensed Bold"/>
                <a:sym typeface="Barlow Condensed Bold"/>
              </a:rPr>
              <a:t>Mục tiêu &amp; phạm vi</a:t>
            </a:r>
          </a:p>
        </p:txBody>
      </p:sp>
      <p:grpSp>
        <p:nvGrpSpPr>
          <p:cNvPr name="Group 6" id="6"/>
          <p:cNvGrpSpPr/>
          <p:nvPr/>
        </p:nvGrpSpPr>
        <p:grpSpPr>
          <a:xfrm rot="0">
            <a:off x="1330250" y="3313802"/>
            <a:ext cx="6191250" cy="4166871"/>
            <a:chOff x="0" y="0"/>
            <a:chExt cx="8255000" cy="5555827"/>
          </a:xfrm>
        </p:grpSpPr>
        <p:sp>
          <p:nvSpPr>
            <p:cNvPr name="TextBox 7" id="7"/>
            <p:cNvSpPr txBox="true"/>
            <p:nvPr/>
          </p:nvSpPr>
          <p:spPr>
            <a:xfrm rot="0">
              <a:off x="0" y="-47625"/>
              <a:ext cx="3810000" cy="547159"/>
            </a:xfrm>
            <a:prstGeom prst="rect">
              <a:avLst/>
            </a:prstGeom>
          </p:spPr>
          <p:txBody>
            <a:bodyPr anchor="t" rtlCol="false" tIns="0" lIns="0" bIns="0" rIns="0">
              <a:spAutoFit/>
            </a:bodyPr>
            <a:lstStyle/>
            <a:p>
              <a:pPr algn="l">
                <a:lnSpc>
                  <a:spcPts val="3499"/>
                </a:lnSpc>
              </a:pPr>
              <a:r>
                <a:rPr lang="en-US" sz="2499" b="true">
                  <a:solidFill>
                    <a:srgbClr val="46D9C5"/>
                  </a:solidFill>
                  <a:latin typeface="Be Vietnam Ultra-Bold"/>
                  <a:ea typeface="Be Vietnam Ultra-Bold"/>
                  <a:cs typeface="Be Vietnam Ultra-Bold"/>
                  <a:sym typeface="Be Vietnam Ultra-Bold"/>
                </a:rPr>
                <a:t>MỤC TIÊU</a:t>
              </a:r>
            </a:p>
          </p:txBody>
        </p:sp>
        <p:sp>
          <p:nvSpPr>
            <p:cNvPr name="TextBox 8" id="8"/>
            <p:cNvSpPr txBox="true"/>
            <p:nvPr/>
          </p:nvSpPr>
          <p:spPr>
            <a:xfrm rot="0">
              <a:off x="0" y="919269"/>
              <a:ext cx="8255000" cy="4636558"/>
            </a:xfrm>
            <a:prstGeom prst="rect">
              <a:avLst/>
            </a:prstGeom>
          </p:spPr>
          <p:txBody>
            <a:bodyPr anchor="t" rtlCol="false" tIns="0" lIns="0" bIns="0" rIns="0">
              <a:spAutoFit/>
            </a:bodyPr>
            <a:lstStyle/>
            <a:p>
              <a:pPr algn="l">
                <a:lnSpc>
                  <a:spcPts val="3499"/>
                </a:lnSpc>
              </a:pPr>
              <a:r>
                <a:rPr lang="en-US" sz="2499">
                  <a:solidFill>
                    <a:srgbClr val="FFFFFF"/>
                  </a:solidFill>
                  <a:latin typeface="Be Vietnam"/>
                  <a:ea typeface="Be Vietnam"/>
                  <a:cs typeface="Be Vietnam"/>
                  <a:sym typeface="Be Vietnam"/>
                </a:rPr>
                <a:t>- Tìm h</a:t>
              </a:r>
              <a:r>
                <a:rPr lang="en-US" sz="2499">
                  <a:solidFill>
                    <a:srgbClr val="FFFFFF"/>
                  </a:solidFill>
                  <a:latin typeface="Be Vietnam"/>
                  <a:ea typeface="Be Vietnam"/>
                  <a:cs typeface="Be Vietnam"/>
                  <a:sym typeface="Be Vietnam"/>
                </a:rPr>
                <a:t>iểu kiến trúc và nguyên lý hoạt động của IoT trong nhà thông minh.</a:t>
              </a:r>
            </a:p>
            <a:p>
              <a:pPr algn="l">
                <a:lnSpc>
                  <a:spcPts val="3499"/>
                </a:lnSpc>
              </a:pPr>
              <a:r>
                <a:rPr lang="en-US" sz="2499">
                  <a:solidFill>
                    <a:srgbClr val="FFFFFF"/>
                  </a:solidFill>
                  <a:latin typeface="Be Vietnam"/>
                  <a:ea typeface="Be Vietnam"/>
                  <a:cs typeface="Be Vietnam"/>
                  <a:sym typeface="Be Vietnam"/>
                </a:rPr>
                <a:t>-  Khám phá các ứng dụng tiêu biểu và xu hướng công nghệ liên quan.</a:t>
              </a:r>
            </a:p>
            <a:p>
              <a:pPr algn="l">
                <a:lnSpc>
                  <a:spcPts val="3499"/>
                </a:lnSpc>
              </a:pPr>
              <a:r>
                <a:rPr lang="en-US" sz="2499">
                  <a:solidFill>
                    <a:srgbClr val="FFFFFF"/>
                  </a:solidFill>
                  <a:latin typeface="Be Vietnam"/>
                  <a:ea typeface="Be Vietnam"/>
                  <a:cs typeface="Be Vietnam"/>
                  <a:sym typeface="Be Vietnam"/>
                </a:rPr>
                <a:t>- Phân tích lợi ích, hạn chế và những rủi ro về bảo mật, quyền riêng tư.</a:t>
              </a:r>
            </a:p>
            <a:p>
              <a:pPr algn="l">
                <a:lnSpc>
                  <a:spcPts val="3499"/>
                </a:lnSpc>
              </a:pPr>
              <a:r>
                <a:rPr lang="en-US" sz="2499">
                  <a:solidFill>
                    <a:srgbClr val="FFFFFF"/>
                  </a:solidFill>
                  <a:latin typeface="Be Vietnam"/>
                  <a:ea typeface="Be Vietnam"/>
                  <a:cs typeface="Be Vietnam"/>
                  <a:sym typeface="Be Vietnam"/>
                </a:rPr>
                <a:t>  - Đề xuất giải pháp sử dụng nhà thông minh an toàn, tiết kiệm và hiệu quả.</a:t>
              </a:r>
            </a:p>
          </p:txBody>
        </p:sp>
      </p:grpSp>
      <p:grpSp>
        <p:nvGrpSpPr>
          <p:cNvPr name="Group 9" id="9"/>
          <p:cNvGrpSpPr/>
          <p:nvPr/>
        </p:nvGrpSpPr>
        <p:grpSpPr>
          <a:xfrm rot="0">
            <a:off x="10325100" y="3313802"/>
            <a:ext cx="6191250" cy="3728721"/>
            <a:chOff x="0" y="0"/>
            <a:chExt cx="8255000" cy="4971627"/>
          </a:xfrm>
        </p:grpSpPr>
        <p:sp>
          <p:nvSpPr>
            <p:cNvPr name="TextBox 10" id="10"/>
            <p:cNvSpPr txBox="true"/>
            <p:nvPr/>
          </p:nvSpPr>
          <p:spPr>
            <a:xfrm rot="0">
              <a:off x="0" y="-47625"/>
              <a:ext cx="3810000" cy="547159"/>
            </a:xfrm>
            <a:prstGeom prst="rect">
              <a:avLst/>
            </a:prstGeom>
          </p:spPr>
          <p:txBody>
            <a:bodyPr anchor="t" rtlCol="false" tIns="0" lIns="0" bIns="0" rIns="0">
              <a:spAutoFit/>
            </a:bodyPr>
            <a:lstStyle/>
            <a:p>
              <a:pPr algn="l">
                <a:lnSpc>
                  <a:spcPts val="3499"/>
                </a:lnSpc>
              </a:pPr>
              <a:r>
                <a:rPr lang="en-US" sz="2499" b="true">
                  <a:solidFill>
                    <a:srgbClr val="FF8A4C"/>
                  </a:solidFill>
                  <a:latin typeface="Be Vietnam Ultra-Bold"/>
                  <a:ea typeface="Be Vietnam Ultra-Bold"/>
                  <a:cs typeface="Be Vietnam Ultra-Bold"/>
                  <a:sym typeface="Be Vietnam Ultra-Bold"/>
                </a:rPr>
                <a:t>PHẠM VI</a:t>
              </a:r>
            </a:p>
          </p:txBody>
        </p:sp>
        <p:sp>
          <p:nvSpPr>
            <p:cNvPr name="TextBox 11" id="11"/>
            <p:cNvSpPr txBox="true"/>
            <p:nvPr/>
          </p:nvSpPr>
          <p:spPr>
            <a:xfrm rot="0">
              <a:off x="0" y="919269"/>
              <a:ext cx="8255000" cy="4052358"/>
            </a:xfrm>
            <a:prstGeom prst="rect">
              <a:avLst/>
            </a:prstGeom>
          </p:spPr>
          <p:txBody>
            <a:bodyPr anchor="t" rtlCol="false" tIns="0" lIns="0" bIns="0" rIns="0">
              <a:spAutoFit/>
            </a:bodyPr>
            <a:lstStyle/>
            <a:p>
              <a:pPr algn="l">
                <a:lnSpc>
                  <a:spcPts val="3499"/>
                </a:lnSpc>
              </a:pPr>
              <a:r>
                <a:rPr lang="en-US" sz="2499">
                  <a:solidFill>
                    <a:srgbClr val="FFFFFF"/>
                  </a:solidFill>
                  <a:latin typeface="Be Vietnam"/>
                  <a:ea typeface="Be Vietnam"/>
                  <a:cs typeface="Be Vietnam"/>
                  <a:sym typeface="Be Vietnam"/>
                </a:rPr>
                <a:t>-</a:t>
              </a:r>
              <a:r>
                <a:rPr lang="en-US" sz="2499">
                  <a:solidFill>
                    <a:srgbClr val="FFFFFF"/>
                  </a:solidFill>
                  <a:latin typeface="Be Vietnam"/>
                  <a:ea typeface="Be Vietnam"/>
                  <a:cs typeface="Be Vietnam"/>
                  <a:sym typeface="Be Vietnam"/>
                </a:rPr>
                <a:t>Chiếu sáng và điều khiển thiết bị điện.</a:t>
              </a:r>
            </a:p>
            <a:p>
              <a:pPr algn="l">
                <a:lnSpc>
                  <a:spcPts val="3499"/>
                </a:lnSpc>
              </a:pPr>
              <a:r>
                <a:rPr lang="en-US" sz="2499">
                  <a:solidFill>
                    <a:srgbClr val="FFFFFF"/>
                  </a:solidFill>
                  <a:latin typeface="Be Vietnam"/>
                  <a:ea typeface="Be Vietnam"/>
                  <a:cs typeface="Be Vietnam"/>
                  <a:sym typeface="Be Vietnam"/>
                </a:rPr>
                <a:t>-Giám sát an ninh, phát hiện khói và rò rỉ nước.</a:t>
              </a:r>
            </a:p>
            <a:p>
              <a:pPr algn="l">
                <a:lnSpc>
                  <a:spcPts val="3499"/>
                </a:lnSpc>
              </a:pPr>
              <a:r>
                <a:rPr lang="en-US" sz="2499">
                  <a:solidFill>
                    <a:srgbClr val="FFFFFF"/>
                  </a:solidFill>
                  <a:latin typeface="Be Vietnam"/>
                  <a:ea typeface="Be Vietnam"/>
                  <a:cs typeface="Be Vietnam"/>
                  <a:sym typeface="Be Vietnam"/>
                </a:rPr>
                <a:t>-Quản lý năng lượng.</a:t>
              </a:r>
            </a:p>
            <a:p>
              <a:pPr algn="l">
                <a:lnSpc>
                  <a:spcPts val="3499"/>
                </a:lnSpc>
              </a:pPr>
              <a:r>
                <a:rPr lang="en-US" sz="2499">
                  <a:solidFill>
                    <a:srgbClr val="FFFFFF"/>
                  </a:solidFill>
                  <a:latin typeface="Be Vietnam"/>
                  <a:ea typeface="Be Vietnam"/>
                  <a:cs typeface="Be Vietnam"/>
                  <a:sym typeface="Be Vietnam"/>
                </a:rPr>
                <a:t>-Điều khiển bằng điện thoại, giọng nói và tự động hóa theo ngữ cảnh.</a:t>
              </a:r>
            </a:p>
            <a:p>
              <a:pPr algn="l">
                <a:lnSpc>
                  <a:spcPts val="3499"/>
                </a:lnSpc>
              </a:pP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grpSp>
        <p:nvGrpSpPr>
          <p:cNvPr name="Group 2" id="2"/>
          <p:cNvGrpSpPr/>
          <p:nvPr/>
        </p:nvGrpSpPr>
        <p:grpSpPr>
          <a:xfrm rot="0">
            <a:off x="1428750" y="2952750"/>
            <a:ext cx="4381500" cy="2857500"/>
            <a:chOff x="0" y="0"/>
            <a:chExt cx="5842000" cy="3810000"/>
          </a:xfrm>
        </p:grpSpPr>
        <p:sp>
          <p:nvSpPr>
            <p:cNvPr name="Freeform 3" id="3"/>
            <p:cNvSpPr/>
            <p:nvPr/>
          </p:nvSpPr>
          <p:spPr>
            <a:xfrm flipH="false" flipV="false" rot="0">
              <a:off x="0" y="0"/>
              <a:ext cx="5842000" cy="3810000"/>
            </a:xfrm>
            <a:custGeom>
              <a:avLst/>
              <a:gdLst/>
              <a:ahLst/>
              <a:cxnLst/>
              <a:rect r="r" b="b" t="t" l="l"/>
              <a:pathLst>
                <a:path h="3810000" w="5842000">
                  <a:moveTo>
                    <a:pt x="49696" y="0"/>
                  </a:moveTo>
                  <a:lnTo>
                    <a:pt x="5792304" y="0"/>
                  </a:lnTo>
                  <a:cubicBezTo>
                    <a:pt x="5819751" y="0"/>
                    <a:pt x="5842000" y="22250"/>
                    <a:pt x="5842000" y="49696"/>
                  </a:cubicBezTo>
                  <a:lnTo>
                    <a:pt x="5842000" y="3760304"/>
                  </a:lnTo>
                  <a:cubicBezTo>
                    <a:pt x="5842000" y="3787751"/>
                    <a:pt x="5819751" y="3810000"/>
                    <a:pt x="5792304" y="3810000"/>
                  </a:cubicBezTo>
                  <a:lnTo>
                    <a:pt x="49696" y="3810000"/>
                  </a:lnTo>
                  <a:cubicBezTo>
                    <a:pt x="22250" y="3810000"/>
                    <a:pt x="0" y="3787751"/>
                    <a:pt x="0" y="3760304"/>
                  </a:cubicBezTo>
                  <a:lnTo>
                    <a:pt x="0" y="49696"/>
                  </a:lnTo>
                  <a:cubicBezTo>
                    <a:pt x="0" y="22250"/>
                    <a:pt x="22250" y="0"/>
                    <a:pt x="49696" y="0"/>
                  </a:cubicBezTo>
                  <a:close/>
                </a:path>
              </a:pathLst>
            </a:custGeom>
            <a:solidFill>
              <a:srgbClr val="46D9C5"/>
            </a:solidFill>
            <a:ln cap="sq">
              <a:noFill/>
              <a:prstDash val="solid"/>
              <a:miter/>
            </a:ln>
          </p:spPr>
        </p:sp>
        <p:sp>
          <p:nvSpPr>
            <p:cNvPr name="TextBox 4" id="4"/>
            <p:cNvSpPr txBox="true"/>
            <p:nvPr/>
          </p:nvSpPr>
          <p:spPr>
            <a:xfrm>
              <a:off x="0" y="9525"/>
              <a:ext cx="5842000" cy="3800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CẢM BIẾN &amp;</a:t>
              </a:r>
            </a:p>
            <a:p>
              <a:pPr algn="ctr">
                <a:lnSpc>
                  <a:spcPts val="2070"/>
                </a:lnSpc>
              </a:pPr>
              <a:r>
                <a:rPr lang="en-US" sz="1800" b="true">
                  <a:solidFill>
                    <a:srgbClr val="122033"/>
                  </a:solidFill>
                  <a:latin typeface="Be Vietnam Ultra-Bold"/>
                  <a:ea typeface="Be Vietnam Ultra-Bold"/>
                  <a:cs typeface="Be Vietnam Ultra-Bold"/>
                  <a:sym typeface="Be Vietnam Ultra-Bold"/>
                </a:rPr>
                <a:t>THIẾT BỊ</a:t>
              </a:r>
            </a:p>
          </p:txBody>
        </p:sp>
      </p:grpSp>
      <p:sp>
        <p:nvSpPr>
          <p:cNvPr name="AutoShape 5" id="5"/>
          <p:cNvSpPr/>
          <p:nvPr/>
        </p:nvSpPr>
        <p:spPr>
          <a:xfrm>
            <a:off x="5905500" y="4381500"/>
            <a:ext cx="952500" cy="0"/>
          </a:xfrm>
          <a:prstGeom prst="line">
            <a:avLst/>
          </a:prstGeom>
          <a:ln cap="rnd" w="47625">
            <a:solidFill>
              <a:srgbClr val="122033"/>
            </a:solidFill>
            <a:prstDash val="solid"/>
            <a:headEnd type="none" len="sm" w="sm"/>
            <a:tailEnd type="none" len="sm" w="sm"/>
          </a:ln>
        </p:spPr>
      </p:sp>
      <p:grpSp>
        <p:nvGrpSpPr>
          <p:cNvPr name="Group 6" id="6"/>
          <p:cNvGrpSpPr/>
          <p:nvPr/>
        </p:nvGrpSpPr>
        <p:grpSpPr>
          <a:xfrm rot="0">
            <a:off x="6953250" y="2952750"/>
            <a:ext cx="4381500" cy="2857500"/>
            <a:chOff x="0" y="0"/>
            <a:chExt cx="5842000" cy="3810000"/>
          </a:xfrm>
        </p:grpSpPr>
        <p:sp>
          <p:nvSpPr>
            <p:cNvPr name="Freeform 7" id="7"/>
            <p:cNvSpPr/>
            <p:nvPr/>
          </p:nvSpPr>
          <p:spPr>
            <a:xfrm flipH="false" flipV="false" rot="0">
              <a:off x="0" y="0"/>
              <a:ext cx="5842000" cy="3810000"/>
            </a:xfrm>
            <a:custGeom>
              <a:avLst/>
              <a:gdLst/>
              <a:ahLst/>
              <a:cxnLst/>
              <a:rect r="r" b="b" t="t" l="l"/>
              <a:pathLst>
                <a:path h="3810000" w="5842000">
                  <a:moveTo>
                    <a:pt x="49696" y="0"/>
                  </a:moveTo>
                  <a:lnTo>
                    <a:pt x="5792304" y="0"/>
                  </a:lnTo>
                  <a:cubicBezTo>
                    <a:pt x="5819751" y="0"/>
                    <a:pt x="5842000" y="22250"/>
                    <a:pt x="5842000" y="49696"/>
                  </a:cubicBezTo>
                  <a:lnTo>
                    <a:pt x="5842000" y="3760304"/>
                  </a:lnTo>
                  <a:cubicBezTo>
                    <a:pt x="5842000" y="3787751"/>
                    <a:pt x="5819751" y="3810000"/>
                    <a:pt x="5792304" y="3810000"/>
                  </a:cubicBezTo>
                  <a:lnTo>
                    <a:pt x="49696" y="3810000"/>
                  </a:lnTo>
                  <a:cubicBezTo>
                    <a:pt x="22250" y="3810000"/>
                    <a:pt x="0" y="3787751"/>
                    <a:pt x="0" y="3760304"/>
                  </a:cubicBezTo>
                  <a:lnTo>
                    <a:pt x="0" y="49696"/>
                  </a:lnTo>
                  <a:cubicBezTo>
                    <a:pt x="0" y="22250"/>
                    <a:pt x="22250" y="0"/>
                    <a:pt x="49696" y="0"/>
                  </a:cubicBezTo>
                  <a:close/>
                </a:path>
              </a:pathLst>
            </a:custGeom>
            <a:solidFill>
              <a:srgbClr val="2D7FF9"/>
            </a:solidFill>
            <a:ln cap="sq">
              <a:noFill/>
              <a:prstDash val="solid"/>
              <a:miter/>
            </a:ln>
          </p:spPr>
        </p:sp>
        <p:sp>
          <p:nvSpPr>
            <p:cNvPr name="TextBox 8" id="8"/>
            <p:cNvSpPr txBox="true"/>
            <p:nvPr/>
          </p:nvSpPr>
          <p:spPr>
            <a:xfrm>
              <a:off x="0" y="9525"/>
              <a:ext cx="5842000" cy="3800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BỘ ĐIỀU KHIỂN</a:t>
              </a:r>
            </a:p>
            <a:p>
              <a:pPr algn="ctr">
                <a:lnSpc>
                  <a:spcPts val="2070"/>
                </a:lnSpc>
              </a:pPr>
              <a:r>
                <a:rPr lang="en-US" sz="1800" b="true">
                  <a:solidFill>
                    <a:srgbClr val="FFFFFF"/>
                  </a:solidFill>
                  <a:latin typeface="Be Vietnam Ultra-Bold"/>
                  <a:ea typeface="Be Vietnam Ultra-Bold"/>
                  <a:cs typeface="Be Vietnam Ultra-Bold"/>
                  <a:sym typeface="Be Vietnam Ultra-Bold"/>
                </a:rPr>
                <a:t>TRUNG TÂM</a:t>
              </a:r>
            </a:p>
          </p:txBody>
        </p:sp>
      </p:grpSp>
      <p:sp>
        <p:nvSpPr>
          <p:cNvPr name="AutoShape 9" id="9"/>
          <p:cNvSpPr/>
          <p:nvPr/>
        </p:nvSpPr>
        <p:spPr>
          <a:xfrm>
            <a:off x="11430000" y="4381500"/>
            <a:ext cx="952500" cy="0"/>
          </a:xfrm>
          <a:prstGeom prst="line">
            <a:avLst/>
          </a:prstGeom>
          <a:ln cap="rnd" w="47625">
            <a:solidFill>
              <a:srgbClr val="122033"/>
            </a:solidFill>
            <a:prstDash val="solid"/>
            <a:headEnd type="none" len="sm" w="sm"/>
            <a:tailEnd type="none" len="sm" w="sm"/>
          </a:ln>
        </p:spPr>
      </p:sp>
      <p:grpSp>
        <p:nvGrpSpPr>
          <p:cNvPr name="Group 10" id="10"/>
          <p:cNvGrpSpPr/>
          <p:nvPr/>
        </p:nvGrpSpPr>
        <p:grpSpPr>
          <a:xfrm rot="0">
            <a:off x="12477750" y="2952750"/>
            <a:ext cx="4381500" cy="2857500"/>
            <a:chOff x="0" y="0"/>
            <a:chExt cx="5842000" cy="3810000"/>
          </a:xfrm>
        </p:grpSpPr>
        <p:sp>
          <p:nvSpPr>
            <p:cNvPr name="Freeform 11" id="11"/>
            <p:cNvSpPr/>
            <p:nvPr/>
          </p:nvSpPr>
          <p:spPr>
            <a:xfrm flipH="false" flipV="false" rot="0">
              <a:off x="0" y="0"/>
              <a:ext cx="5842000" cy="3810000"/>
            </a:xfrm>
            <a:custGeom>
              <a:avLst/>
              <a:gdLst/>
              <a:ahLst/>
              <a:cxnLst/>
              <a:rect r="r" b="b" t="t" l="l"/>
              <a:pathLst>
                <a:path h="3810000" w="5842000">
                  <a:moveTo>
                    <a:pt x="49696" y="0"/>
                  </a:moveTo>
                  <a:lnTo>
                    <a:pt x="5792304" y="0"/>
                  </a:lnTo>
                  <a:cubicBezTo>
                    <a:pt x="5819751" y="0"/>
                    <a:pt x="5842000" y="22250"/>
                    <a:pt x="5842000" y="49696"/>
                  </a:cubicBezTo>
                  <a:lnTo>
                    <a:pt x="5842000" y="3760304"/>
                  </a:lnTo>
                  <a:cubicBezTo>
                    <a:pt x="5842000" y="3787751"/>
                    <a:pt x="5819751" y="3810000"/>
                    <a:pt x="5792304" y="3810000"/>
                  </a:cubicBezTo>
                  <a:lnTo>
                    <a:pt x="49696" y="3810000"/>
                  </a:lnTo>
                  <a:cubicBezTo>
                    <a:pt x="22250" y="3810000"/>
                    <a:pt x="0" y="3787751"/>
                    <a:pt x="0" y="3760304"/>
                  </a:cubicBezTo>
                  <a:lnTo>
                    <a:pt x="0" y="49696"/>
                  </a:lnTo>
                  <a:cubicBezTo>
                    <a:pt x="0" y="22250"/>
                    <a:pt x="22250" y="0"/>
                    <a:pt x="49696" y="0"/>
                  </a:cubicBezTo>
                  <a:close/>
                </a:path>
              </a:pathLst>
            </a:custGeom>
            <a:solidFill>
              <a:srgbClr val="FF8A4C"/>
            </a:solidFill>
            <a:ln cap="sq">
              <a:noFill/>
              <a:prstDash val="solid"/>
              <a:miter/>
            </a:ln>
          </p:spPr>
        </p:sp>
        <p:sp>
          <p:nvSpPr>
            <p:cNvPr name="TextBox 12" id="12"/>
            <p:cNvSpPr txBox="true"/>
            <p:nvPr/>
          </p:nvSpPr>
          <p:spPr>
            <a:xfrm>
              <a:off x="0" y="9525"/>
              <a:ext cx="5842000" cy="3800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MẠNG &amp;</a:t>
              </a:r>
            </a:p>
            <a:p>
              <a:pPr algn="ctr">
                <a:lnSpc>
                  <a:spcPts val="2070"/>
                </a:lnSpc>
              </a:pPr>
              <a:r>
                <a:rPr lang="en-US" sz="1800" b="true">
                  <a:solidFill>
                    <a:srgbClr val="122033"/>
                  </a:solidFill>
                  <a:latin typeface="Be Vietnam Ultra-Bold"/>
                  <a:ea typeface="Be Vietnam Ultra-Bold"/>
                  <a:cs typeface="Be Vietnam Ultra-Bold"/>
                  <a:sym typeface="Be Vietnam Ultra-Bold"/>
                </a:rPr>
                <a:t>ĐÁM MÂY</a:t>
              </a:r>
            </a:p>
          </p:txBody>
        </p:sp>
      </p:grpSp>
      <p:sp>
        <p:nvSpPr>
          <p:cNvPr name="TextBox 13" id="13"/>
          <p:cNvSpPr txBox="true"/>
          <p:nvPr/>
        </p:nvSpPr>
        <p:spPr>
          <a:xfrm rot="0">
            <a:off x="1047750" y="847725"/>
            <a:ext cx="14287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Ba lớp của kiến trúc nhà thông minh</a:t>
            </a:r>
          </a:p>
        </p:txBody>
      </p:sp>
      <p:sp>
        <p:nvSpPr>
          <p:cNvPr name="TextBox 14" id="14"/>
          <p:cNvSpPr txBox="true"/>
          <p:nvPr/>
        </p:nvSpPr>
        <p:spPr>
          <a:xfrm rot="0">
            <a:off x="1619250" y="6648450"/>
            <a:ext cx="4000500" cy="1659890"/>
          </a:xfrm>
          <a:prstGeom prst="rect">
            <a:avLst/>
          </a:prstGeom>
        </p:spPr>
        <p:txBody>
          <a:bodyPr anchor="t" rtlCol="false" tIns="0" lIns="0" bIns="0" rIns="0">
            <a:spAutoFit/>
          </a:bodyPr>
          <a:lstStyle/>
          <a:p>
            <a:pPr algn="l">
              <a:lnSpc>
                <a:spcPts val="2664"/>
              </a:lnSpc>
            </a:pPr>
            <a:r>
              <a:rPr lang="en-US" sz="2049">
                <a:solidFill>
                  <a:srgbClr val="122033"/>
                </a:solidFill>
                <a:latin typeface="Be Vietnam"/>
                <a:ea typeface="Be Vietnam"/>
                <a:cs typeface="Be Vietnam"/>
                <a:sym typeface="Be Vietnam"/>
              </a:rPr>
              <a:t> cảm biến chuyển động, cảm biến nhiệt độ, cảm biến khói, cảm biến cửa.</a:t>
            </a:r>
          </a:p>
          <a:p>
            <a:pPr algn="l">
              <a:lnSpc>
                <a:spcPts val="2664"/>
              </a:lnSpc>
            </a:pPr>
          </a:p>
          <a:p>
            <a:pPr algn="l">
              <a:lnSpc>
                <a:spcPts val="2664"/>
              </a:lnSpc>
            </a:pPr>
          </a:p>
        </p:txBody>
      </p:sp>
      <p:sp>
        <p:nvSpPr>
          <p:cNvPr name="TextBox 15" id="15"/>
          <p:cNvSpPr txBox="true"/>
          <p:nvPr/>
        </p:nvSpPr>
        <p:spPr>
          <a:xfrm rot="0">
            <a:off x="7143750" y="6648450"/>
            <a:ext cx="4000500" cy="1326515"/>
          </a:xfrm>
          <a:prstGeom prst="rect">
            <a:avLst/>
          </a:prstGeom>
        </p:spPr>
        <p:txBody>
          <a:bodyPr anchor="t" rtlCol="false" tIns="0" lIns="0" bIns="0" rIns="0">
            <a:spAutoFit/>
          </a:bodyPr>
          <a:lstStyle/>
          <a:p>
            <a:pPr algn="l">
              <a:lnSpc>
                <a:spcPts val="2664"/>
              </a:lnSpc>
            </a:pPr>
            <a:r>
              <a:rPr lang="en-US" sz="2049">
                <a:solidFill>
                  <a:srgbClr val="122033"/>
                </a:solidFill>
                <a:latin typeface="Be Vietnam"/>
                <a:ea typeface="Be Vietnam"/>
                <a:cs typeface="Be Vietnam"/>
                <a:sym typeface="Be Vietnam"/>
              </a:rPr>
              <a:t>bộ điều khiển trung tâm (Hub/Gateway), vi điều khiển hoặc bộ điều khiển tích hợp trong thiết bị.</a:t>
            </a:r>
          </a:p>
        </p:txBody>
      </p:sp>
      <p:sp>
        <p:nvSpPr>
          <p:cNvPr name="TextBox 16" id="16"/>
          <p:cNvSpPr txBox="true"/>
          <p:nvPr/>
        </p:nvSpPr>
        <p:spPr>
          <a:xfrm rot="0">
            <a:off x="12668250" y="6648450"/>
            <a:ext cx="4000500" cy="1326515"/>
          </a:xfrm>
          <a:prstGeom prst="rect">
            <a:avLst/>
          </a:prstGeom>
        </p:spPr>
        <p:txBody>
          <a:bodyPr anchor="t" rtlCol="false" tIns="0" lIns="0" bIns="0" rIns="0">
            <a:spAutoFit/>
          </a:bodyPr>
          <a:lstStyle/>
          <a:p>
            <a:pPr algn="l">
              <a:lnSpc>
                <a:spcPts val="2664"/>
              </a:lnSpc>
            </a:pPr>
            <a:r>
              <a:rPr lang="en-US" sz="2049">
                <a:solidFill>
                  <a:srgbClr val="122033"/>
                </a:solidFill>
                <a:latin typeface="Be Vietnam"/>
                <a:ea typeface="Be Vietnam"/>
                <a:cs typeface="Be Vietnam"/>
                <a:sym typeface="Be Vietnam"/>
              </a:rPr>
              <a:t>ứng dụng điện thoại, máy chủ đám mây hoặc bộ xử lý cục bộ tại nhà.</a:t>
            </a:r>
          </a:p>
          <a:p>
            <a:pPr algn="l">
              <a:lnSpc>
                <a:spcPts val="2664"/>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grpSp>
        <p:nvGrpSpPr>
          <p:cNvPr name="Group 2" id="2"/>
          <p:cNvGrpSpPr/>
          <p:nvPr/>
        </p:nvGrpSpPr>
        <p:grpSpPr>
          <a:xfrm rot="0">
            <a:off x="1238250" y="3333750"/>
            <a:ext cx="4095750" cy="1619250"/>
            <a:chOff x="0" y="0"/>
            <a:chExt cx="5461000" cy="2159000"/>
          </a:xfrm>
        </p:grpSpPr>
        <p:sp>
          <p:nvSpPr>
            <p:cNvPr name="Freeform 3" id="3"/>
            <p:cNvSpPr/>
            <p:nvPr/>
          </p:nvSpPr>
          <p:spPr>
            <a:xfrm flipH="false" flipV="false" rot="0">
              <a:off x="0" y="0"/>
              <a:ext cx="5461000" cy="2159000"/>
            </a:xfrm>
            <a:custGeom>
              <a:avLst/>
              <a:gdLst/>
              <a:ahLst/>
              <a:cxnLst/>
              <a:rect r="r" b="b" t="t" l="l"/>
              <a:pathLst>
                <a:path h="2159000" w="5461000">
                  <a:moveTo>
                    <a:pt x="53163" y="0"/>
                  </a:moveTo>
                  <a:lnTo>
                    <a:pt x="5407837" y="0"/>
                  </a:lnTo>
                  <a:cubicBezTo>
                    <a:pt x="5421937" y="0"/>
                    <a:pt x="5435459" y="5601"/>
                    <a:pt x="5445429" y="15571"/>
                  </a:cubicBezTo>
                  <a:cubicBezTo>
                    <a:pt x="5455399" y="25541"/>
                    <a:pt x="5461000" y="39063"/>
                    <a:pt x="5461000" y="53163"/>
                  </a:cubicBezTo>
                  <a:lnTo>
                    <a:pt x="5461000" y="2105837"/>
                  </a:lnTo>
                  <a:cubicBezTo>
                    <a:pt x="5461000" y="2119937"/>
                    <a:pt x="5455399" y="2133459"/>
                    <a:pt x="5445429" y="2143429"/>
                  </a:cubicBezTo>
                  <a:cubicBezTo>
                    <a:pt x="5435459" y="2153399"/>
                    <a:pt x="5421937" y="2159000"/>
                    <a:pt x="5407837" y="2159000"/>
                  </a:cubicBezTo>
                  <a:lnTo>
                    <a:pt x="53163" y="2159000"/>
                  </a:lnTo>
                  <a:cubicBezTo>
                    <a:pt x="39063" y="2159000"/>
                    <a:pt x="25541" y="2153399"/>
                    <a:pt x="15571" y="2143429"/>
                  </a:cubicBezTo>
                  <a:cubicBezTo>
                    <a:pt x="5601" y="2133459"/>
                    <a:pt x="0" y="2119937"/>
                    <a:pt x="0" y="2105837"/>
                  </a:cubicBezTo>
                  <a:lnTo>
                    <a:pt x="0" y="53163"/>
                  </a:lnTo>
                  <a:cubicBezTo>
                    <a:pt x="0" y="39063"/>
                    <a:pt x="5601" y="25541"/>
                    <a:pt x="15571" y="15571"/>
                  </a:cubicBezTo>
                  <a:cubicBezTo>
                    <a:pt x="25541" y="5601"/>
                    <a:pt x="39063" y="0"/>
                    <a:pt x="53163" y="0"/>
                  </a:cubicBezTo>
                  <a:close/>
                </a:path>
              </a:pathLst>
            </a:custGeom>
            <a:solidFill>
              <a:srgbClr val="46D9C5"/>
            </a:solidFill>
            <a:ln cap="sq">
              <a:noFill/>
              <a:prstDash val="solid"/>
              <a:miter/>
            </a:ln>
          </p:spPr>
        </p:sp>
        <p:sp>
          <p:nvSpPr>
            <p:cNvPr name="TextBox 4" id="4"/>
            <p:cNvSpPr txBox="true"/>
            <p:nvPr/>
          </p:nvSpPr>
          <p:spPr>
            <a:xfrm>
              <a:off x="0" y="9525"/>
              <a:ext cx="5461000" cy="2149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1  THU THẬP</a:t>
              </a:r>
            </a:p>
          </p:txBody>
        </p:sp>
      </p:grpSp>
      <p:sp>
        <p:nvSpPr>
          <p:cNvPr name="AutoShape 5" id="5"/>
          <p:cNvSpPr/>
          <p:nvPr/>
        </p:nvSpPr>
        <p:spPr>
          <a:xfrm>
            <a:off x="5476875" y="4143375"/>
            <a:ext cx="1190625" cy="0"/>
          </a:xfrm>
          <a:prstGeom prst="line">
            <a:avLst/>
          </a:prstGeom>
          <a:ln cap="rnd" w="57150">
            <a:solidFill>
              <a:srgbClr val="122033"/>
            </a:solidFill>
            <a:prstDash val="solid"/>
            <a:headEnd type="none" len="sm" w="sm"/>
            <a:tailEnd type="none" len="sm" w="sm"/>
          </a:ln>
        </p:spPr>
      </p:sp>
      <p:grpSp>
        <p:nvGrpSpPr>
          <p:cNvPr name="Group 6" id="6"/>
          <p:cNvGrpSpPr/>
          <p:nvPr/>
        </p:nvGrpSpPr>
        <p:grpSpPr>
          <a:xfrm rot="0">
            <a:off x="6858000" y="3333750"/>
            <a:ext cx="4095750" cy="1619250"/>
            <a:chOff x="0" y="0"/>
            <a:chExt cx="5461000" cy="2159000"/>
          </a:xfrm>
        </p:grpSpPr>
        <p:sp>
          <p:nvSpPr>
            <p:cNvPr name="Freeform 7" id="7"/>
            <p:cNvSpPr/>
            <p:nvPr/>
          </p:nvSpPr>
          <p:spPr>
            <a:xfrm flipH="false" flipV="false" rot="0">
              <a:off x="0" y="0"/>
              <a:ext cx="5461000" cy="2159000"/>
            </a:xfrm>
            <a:custGeom>
              <a:avLst/>
              <a:gdLst/>
              <a:ahLst/>
              <a:cxnLst/>
              <a:rect r="r" b="b" t="t" l="l"/>
              <a:pathLst>
                <a:path h="2159000" w="5461000">
                  <a:moveTo>
                    <a:pt x="53163" y="0"/>
                  </a:moveTo>
                  <a:lnTo>
                    <a:pt x="5407837" y="0"/>
                  </a:lnTo>
                  <a:cubicBezTo>
                    <a:pt x="5421937" y="0"/>
                    <a:pt x="5435459" y="5601"/>
                    <a:pt x="5445429" y="15571"/>
                  </a:cubicBezTo>
                  <a:cubicBezTo>
                    <a:pt x="5455399" y="25541"/>
                    <a:pt x="5461000" y="39063"/>
                    <a:pt x="5461000" y="53163"/>
                  </a:cubicBezTo>
                  <a:lnTo>
                    <a:pt x="5461000" y="2105837"/>
                  </a:lnTo>
                  <a:cubicBezTo>
                    <a:pt x="5461000" y="2119937"/>
                    <a:pt x="5455399" y="2133459"/>
                    <a:pt x="5445429" y="2143429"/>
                  </a:cubicBezTo>
                  <a:cubicBezTo>
                    <a:pt x="5435459" y="2153399"/>
                    <a:pt x="5421937" y="2159000"/>
                    <a:pt x="5407837" y="2159000"/>
                  </a:cubicBezTo>
                  <a:lnTo>
                    <a:pt x="53163" y="2159000"/>
                  </a:lnTo>
                  <a:cubicBezTo>
                    <a:pt x="39063" y="2159000"/>
                    <a:pt x="25541" y="2153399"/>
                    <a:pt x="15571" y="2143429"/>
                  </a:cubicBezTo>
                  <a:cubicBezTo>
                    <a:pt x="5601" y="2133459"/>
                    <a:pt x="0" y="2119937"/>
                    <a:pt x="0" y="2105837"/>
                  </a:cubicBezTo>
                  <a:lnTo>
                    <a:pt x="0" y="53163"/>
                  </a:lnTo>
                  <a:cubicBezTo>
                    <a:pt x="0" y="39063"/>
                    <a:pt x="5601" y="25541"/>
                    <a:pt x="15571" y="15571"/>
                  </a:cubicBezTo>
                  <a:cubicBezTo>
                    <a:pt x="25541" y="5601"/>
                    <a:pt x="39063" y="0"/>
                    <a:pt x="53163" y="0"/>
                  </a:cubicBezTo>
                  <a:close/>
                </a:path>
              </a:pathLst>
            </a:custGeom>
            <a:solidFill>
              <a:srgbClr val="2D7FF9"/>
            </a:solidFill>
            <a:ln cap="sq">
              <a:noFill/>
              <a:prstDash val="solid"/>
              <a:miter/>
            </a:ln>
          </p:spPr>
        </p:sp>
        <p:sp>
          <p:nvSpPr>
            <p:cNvPr name="TextBox 8" id="8"/>
            <p:cNvSpPr txBox="true"/>
            <p:nvPr/>
          </p:nvSpPr>
          <p:spPr>
            <a:xfrm>
              <a:off x="0" y="9525"/>
              <a:ext cx="5461000" cy="2149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2  XỬ LÝ &amp; PHÂN TÍCH</a:t>
              </a:r>
            </a:p>
          </p:txBody>
        </p:sp>
      </p:grpSp>
      <p:sp>
        <p:nvSpPr>
          <p:cNvPr name="AutoShape 9" id="9"/>
          <p:cNvSpPr/>
          <p:nvPr/>
        </p:nvSpPr>
        <p:spPr>
          <a:xfrm>
            <a:off x="11096625" y="4143375"/>
            <a:ext cx="1190625" cy="0"/>
          </a:xfrm>
          <a:prstGeom prst="line">
            <a:avLst/>
          </a:prstGeom>
          <a:ln cap="rnd" w="57150">
            <a:solidFill>
              <a:srgbClr val="122033"/>
            </a:solidFill>
            <a:prstDash val="solid"/>
            <a:headEnd type="none" len="sm" w="sm"/>
            <a:tailEnd type="none" len="sm" w="sm"/>
          </a:ln>
        </p:spPr>
      </p:sp>
      <p:grpSp>
        <p:nvGrpSpPr>
          <p:cNvPr name="Group 10" id="10"/>
          <p:cNvGrpSpPr/>
          <p:nvPr/>
        </p:nvGrpSpPr>
        <p:grpSpPr>
          <a:xfrm rot="0">
            <a:off x="12477750" y="3333750"/>
            <a:ext cx="4095750" cy="1619250"/>
            <a:chOff x="0" y="0"/>
            <a:chExt cx="5461000" cy="2159000"/>
          </a:xfrm>
        </p:grpSpPr>
        <p:sp>
          <p:nvSpPr>
            <p:cNvPr name="Freeform 11" id="11"/>
            <p:cNvSpPr/>
            <p:nvPr/>
          </p:nvSpPr>
          <p:spPr>
            <a:xfrm flipH="false" flipV="false" rot="0">
              <a:off x="0" y="0"/>
              <a:ext cx="5461000" cy="2159000"/>
            </a:xfrm>
            <a:custGeom>
              <a:avLst/>
              <a:gdLst/>
              <a:ahLst/>
              <a:cxnLst/>
              <a:rect r="r" b="b" t="t" l="l"/>
              <a:pathLst>
                <a:path h="2159000" w="5461000">
                  <a:moveTo>
                    <a:pt x="53163" y="0"/>
                  </a:moveTo>
                  <a:lnTo>
                    <a:pt x="5407837" y="0"/>
                  </a:lnTo>
                  <a:cubicBezTo>
                    <a:pt x="5421937" y="0"/>
                    <a:pt x="5435459" y="5601"/>
                    <a:pt x="5445429" y="15571"/>
                  </a:cubicBezTo>
                  <a:cubicBezTo>
                    <a:pt x="5455399" y="25541"/>
                    <a:pt x="5461000" y="39063"/>
                    <a:pt x="5461000" y="53163"/>
                  </a:cubicBezTo>
                  <a:lnTo>
                    <a:pt x="5461000" y="2105837"/>
                  </a:lnTo>
                  <a:cubicBezTo>
                    <a:pt x="5461000" y="2119937"/>
                    <a:pt x="5455399" y="2133459"/>
                    <a:pt x="5445429" y="2143429"/>
                  </a:cubicBezTo>
                  <a:cubicBezTo>
                    <a:pt x="5435459" y="2153399"/>
                    <a:pt x="5421937" y="2159000"/>
                    <a:pt x="5407837" y="2159000"/>
                  </a:cubicBezTo>
                  <a:lnTo>
                    <a:pt x="53163" y="2159000"/>
                  </a:lnTo>
                  <a:cubicBezTo>
                    <a:pt x="39063" y="2159000"/>
                    <a:pt x="25541" y="2153399"/>
                    <a:pt x="15571" y="2143429"/>
                  </a:cubicBezTo>
                  <a:cubicBezTo>
                    <a:pt x="5601" y="2133459"/>
                    <a:pt x="0" y="2119937"/>
                    <a:pt x="0" y="2105837"/>
                  </a:cubicBezTo>
                  <a:lnTo>
                    <a:pt x="0" y="53163"/>
                  </a:lnTo>
                  <a:cubicBezTo>
                    <a:pt x="0" y="39063"/>
                    <a:pt x="5601" y="25541"/>
                    <a:pt x="15571" y="15571"/>
                  </a:cubicBezTo>
                  <a:cubicBezTo>
                    <a:pt x="25541" y="5601"/>
                    <a:pt x="39063" y="0"/>
                    <a:pt x="53163" y="0"/>
                  </a:cubicBezTo>
                  <a:close/>
                </a:path>
              </a:pathLst>
            </a:custGeom>
            <a:solidFill>
              <a:srgbClr val="FF8A4C"/>
            </a:solidFill>
            <a:ln cap="sq">
              <a:noFill/>
              <a:prstDash val="solid"/>
              <a:miter/>
            </a:ln>
          </p:spPr>
        </p:sp>
        <p:sp>
          <p:nvSpPr>
            <p:cNvPr name="TextBox 12" id="12"/>
            <p:cNvSpPr txBox="true"/>
            <p:nvPr/>
          </p:nvSpPr>
          <p:spPr>
            <a:xfrm>
              <a:off x="0" y="9525"/>
              <a:ext cx="5461000" cy="2149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3  GỬI LỆNH</a:t>
              </a:r>
            </a:p>
          </p:txBody>
        </p:sp>
      </p:grpSp>
      <p:sp>
        <p:nvSpPr>
          <p:cNvPr name="TextBox 13" id="13"/>
          <p:cNvSpPr txBox="true"/>
          <p:nvPr/>
        </p:nvSpPr>
        <p:spPr>
          <a:xfrm rot="0">
            <a:off x="1047750" y="847725"/>
            <a:ext cx="133350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Dữ liệu biến thành hành động</a:t>
            </a:r>
          </a:p>
        </p:txBody>
      </p:sp>
      <p:sp>
        <p:nvSpPr>
          <p:cNvPr name="TextBox 14" id="14"/>
          <p:cNvSpPr txBox="true"/>
          <p:nvPr/>
        </p:nvSpPr>
        <p:spPr>
          <a:xfrm rot="0">
            <a:off x="1047750" y="8162925"/>
            <a:ext cx="8572500" cy="340995"/>
          </a:xfrm>
          <a:prstGeom prst="rect">
            <a:avLst/>
          </a:prstGeom>
        </p:spPr>
        <p:txBody>
          <a:bodyPr anchor="t" rtlCol="false" tIns="0" lIns="0" bIns="0" rIns="0">
            <a:spAutoFit/>
          </a:bodyPr>
          <a:lstStyle/>
          <a:p>
            <a:pPr algn="l">
              <a:lnSpc>
                <a:spcPts val="2835"/>
              </a:lnSpc>
            </a:pPr>
            <a:r>
              <a:rPr lang="en-US" sz="2100">
                <a:solidFill>
                  <a:srgbClr val="122033"/>
                </a:solidFill>
                <a:latin typeface="Be Vietnam"/>
                <a:ea typeface="Be Vietnam"/>
                <a:cs typeface="Be Vietnam"/>
                <a:sym typeface="Be Vietnam"/>
              </a:rPr>
              <a:t>Chu trình lặp liên tục, phản hồi theo thời gian thực.</a:t>
            </a:r>
          </a:p>
        </p:txBody>
      </p:sp>
      <p:sp>
        <p:nvSpPr>
          <p:cNvPr name="TextBox 15" id="15"/>
          <p:cNvSpPr txBox="true"/>
          <p:nvPr/>
        </p:nvSpPr>
        <p:spPr>
          <a:xfrm rot="0">
            <a:off x="1238250" y="5219700"/>
            <a:ext cx="4095750" cy="909955"/>
          </a:xfrm>
          <a:prstGeom prst="rect">
            <a:avLst/>
          </a:prstGeom>
        </p:spPr>
        <p:txBody>
          <a:bodyPr anchor="t" rtlCol="false" tIns="0" lIns="0" bIns="0" rIns="0">
            <a:spAutoFit/>
          </a:bodyPr>
          <a:lstStyle/>
          <a:p>
            <a:pPr algn="ctr">
              <a:lnSpc>
                <a:spcPts val="2404"/>
              </a:lnSpc>
            </a:pPr>
            <a:r>
              <a:rPr lang="en-US" sz="1849">
                <a:solidFill>
                  <a:srgbClr val="122033"/>
                </a:solidFill>
                <a:latin typeface="Be Vietnam"/>
                <a:ea typeface="Be Vietnam"/>
                <a:cs typeface="Be Vietnam"/>
                <a:sym typeface="Be Vietnam"/>
              </a:rPr>
              <a:t>Cảm biến thu thập dữ liệu từ môi trường.</a:t>
            </a:r>
          </a:p>
          <a:p>
            <a:pPr algn="ctr">
              <a:lnSpc>
                <a:spcPts val="2404"/>
              </a:lnSpc>
            </a:pPr>
          </a:p>
        </p:txBody>
      </p:sp>
      <p:sp>
        <p:nvSpPr>
          <p:cNvPr name="TextBox 16" id="16"/>
          <p:cNvSpPr txBox="true"/>
          <p:nvPr/>
        </p:nvSpPr>
        <p:spPr>
          <a:xfrm rot="0">
            <a:off x="6858000" y="5219700"/>
            <a:ext cx="4095750" cy="909955"/>
          </a:xfrm>
          <a:prstGeom prst="rect">
            <a:avLst/>
          </a:prstGeom>
        </p:spPr>
        <p:txBody>
          <a:bodyPr anchor="t" rtlCol="false" tIns="0" lIns="0" bIns="0" rIns="0">
            <a:spAutoFit/>
          </a:bodyPr>
          <a:lstStyle/>
          <a:p>
            <a:pPr algn="ctr">
              <a:lnSpc>
                <a:spcPts val="2404"/>
              </a:lnSpc>
            </a:pPr>
            <a:r>
              <a:rPr lang="en-US" sz="1849">
                <a:solidFill>
                  <a:srgbClr val="122033"/>
                </a:solidFill>
                <a:latin typeface="Be Vietnam"/>
                <a:ea typeface="Be Vietnam"/>
                <a:cs typeface="Be Vietnam"/>
                <a:sym typeface="Be Vietnam"/>
              </a:rPr>
              <a:t>Hệ thống phân tích dữ liệu và đối chiếu với quy tắc đã thiết lập.</a:t>
            </a:r>
          </a:p>
          <a:p>
            <a:pPr algn="ctr">
              <a:lnSpc>
                <a:spcPts val="2404"/>
              </a:lnSpc>
            </a:pPr>
          </a:p>
        </p:txBody>
      </p:sp>
      <p:sp>
        <p:nvSpPr>
          <p:cNvPr name="TextBox 17" id="17"/>
          <p:cNvSpPr txBox="true"/>
          <p:nvPr/>
        </p:nvSpPr>
        <p:spPr>
          <a:xfrm rot="0">
            <a:off x="12477750" y="5219700"/>
            <a:ext cx="4095750" cy="909955"/>
          </a:xfrm>
          <a:prstGeom prst="rect">
            <a:avLst/>
          </a:prstGeom>
        </p:spPr>
        <p:txBody>
          <a:bodyPr anchor="t" rtlCol="false" tIns="0" lIns="0" bIns="0" rIns="0">
            <a:spAutoFit/>
          </a:bodyPr>
          <a:lstStyle/>
          <a:p>
            <a:pPr algn="ctr">
              <a:lnSpc>
                <a:spcPts val="2404"/>
              </a:lnSpc>
            </a:pPr>
            <a:r>
              <a:rPr lang="en-US" sz="1849">
                <a:solidFill>
                  <a:srgbClr val="122033"/>
                </a:solidFill>
                <a:latin typeface="Be Vietnam"/>
                <a:ea typeface="Be Vietnam"/>
                <a:cs typeface="Be Vietnam"/>
                <a:sym typeface="Be Vietnam"/>
              </a:rPr>
              <a:t>Thiết bị chấp hành thực hiện lệnh tương ứng.</a:t>
            </a:r>
          </a:p>
          <a:p>
            <a:pPr algn="ctr">
              <a:lnSpc>
                <a:spcPts val="2404"/>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sp>
        <p:nvSpPr>
          <p:cNvPr name="TextBox 2" id="2"/>
          <p:cNvSpPr txBox="true"/>
          <p:nvPr/>
        </p:nvSpPr>
        <p:spPr>
          <a:xfrm rot="0">
            <a:off x="1047750" y="847725"/>
            <a:ext cx="14287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Một ngôi nhà, ba cách điều khiển</a:t>
            </a:r>
          </a:p>
        </p:txBody>
      </p:sp>
      <p:grpSp>
        <p:nvGrpSpPr>
          <p:cNvPr name="Group 3" id="3"/>
          <p:cNvGrpSpPr/>
          <p:nvPr/>
        </p:nvGrpSpPr>
        <p:grpSpPr>
          <a:xfrm rot="0">
            <a:off x="1190625" y="2857500"/>
            <a:ext cx="4762500" cy="2381250"/>
            <a:chOff x="0" y="0"/>
            <a:chExt cx="6350000" cy="3175000"/>
          </a:xfrm>
        </p:grpSpPr>
        <p:sp>
          <p:nvSpPr>
            <p:cNvPr name="Freeform 4" id="4"/>
            <p:cNvSpPr/>
            <p:nvPr/>
          </p:nvSpPr>
          <p:spPr>
            <a:xfrm flipH="false" flipV="false" rot="0">
              <a:off x="0" y="0"/>
              <a:ext cx="6350000" cy="3175000"/>
            </a:xfrm>
            <a:custGeom>
              <a:avLst/>
              <a:gdLst/>
              <a:ahLst/>
              <a:cxnLst/>
              <a:rect r="r" b="b" t="t" l="l"/>
              <a:pathLst>
                <a:path h="3175000" w="6350000">
                  <a:moveTo>
                    <a:pt x="45720" y="0"/>
                  </a:moveTo>
                  <a:lnTo>
                    <a:pt x="6304280" y="0"/>
                  </a:lnTo>
                  <a:cubicBezTo>
                    <a:pt x="6316406" y="0"/>
                    <a:pt x="6328035" y="4817"/>
                    <a:pt x="6336609" y="13391"/>
                  </a:cubicBezTo>
                  <a:cubicBezTo>
                    <a:pt x="6345183" y="21965"/>
                    <a:pt x="6350000" y="33594"/>
                    <a:pt x="6350000" y="45720"/>
                  </a:cubicBezTo>
                  <a:lnTo>
                    <a:pt x="6350000" y="3129280"/>
                  </a:lnTo>
                  <a:cubicBezTo>
                    <a:pt x="6350000" y="3154531"/>
                    <a:pt x="6329530" y="3175000"/>
                    <a:pt x="6304280" y="3175000"/>
                  </a:cubicBezTo>
                  <a:lnTo>
                    <a:pt x="45720" y="3175000"/>
                  </a:lnTo>
                  <a:cubicBezTo>
                    <a:pt x="20470" y="3175000"/>
                    <a:pt x="0" y="3154531"/>
                    <a:pt x="0" y="3129280"/>
                  </a:cubicBezTo>
                  <a:lnTo>
                    <a:pt x="0" y="45720"/>
                  </a:lnTo>
                  <a:cubicBezTo>
                    <a:pt x="0" y="20470"/>
                    <a:pt x="20470" y="0"/>
                    <a:pt x="45720" y="0"/>
                  </a:cubicBezTo>
                  <a:close/>
                </a:path>
              </a:pathLst>
            </a:custGeom>
            <a:solidFill>
              <a:srgbClr val="2D7FF9"/>
            </a:solidFill>
            <a:ln cap="sq">
              <a:noFill/>
              <a:prstDash val="solid"/>
              <a:miter/>
            </a:ln>
          </p:spPr>
        </p:sp>
        <p:sp>
          <p:nvSpPr>
            <p:cNvPr name="TextBox 5" id="5"/>
            <p:cNvSpPr txBox="true"/>
            <p:nvPr/>
          </p:nvSpPr>
          <p:spPr>
            <a:xfrm>
              <a:off x="0" y="9525"/>
              <a:ext cx="6350000" cy="3165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ỨNG DỤNG</a:t>
              </a:r>
            </a:p>
          </p:txBody>
        </p:sp>
      </p:grpSp>
      <p:grpSp>
        <p:nvGrpSpPr>
          <p:cNvPr name="Group 6" id="6"/>
          <p:cNvGrpSpPr/>
          <p:nvPr/>
        </p:nvGrpSpPr>
        <p:grpSpPr>
          <a:xfrm rot="0">
            <a:off x="6905625" y="2857500"/>
            <a:ext cx="4762500" cy="2381250"/>
            <a:chOff x="0" y="0"/>
            <a:chExt cx="6350000" cy="3175000"/>
          </a:xfrm>
        </p:grpSpPr>
        <p:sp>
          <p:nvSpPr>
            <p:cNvPr name="Freeform 7" id="7"/>
            <p:cNvSpPr/>
            <p:nvPr/>
          </p:nvSpPr>
          <p:spPr>
            <a:xfrm flipH="false" flipV="false" rot="0">
              <a:off x="0" y="0"/>
              <a:ext cx="6350000" cy="3175000"/>
            </a:xfrm>
            <a:custGeom>
              <a:avLst/>
              <a:gdLst/>
              <a:ahLst/>
              <a:cxnLst/>
              <a:rect r="r" b="b" t="t" l="l"/>
              <a:pathLst>
                <a:path h="3175000" w="6350000">
                  <a:moveTo>
                    <a:pt x="45720" y="0"/>
                  </a:moveTo>
                  <a:lnTo>
                    <a:pt x="6304280" y="0"/>
                  </a:lnTo>
                  <a:cubicBezTo>
                    <a:pt x="6316406" y="0"/>
                    <a:pt x="6328035" y="4817"/>
                    <a:pt x="6336609" y="13391"/>
                  </a:cubicBezTo>
                  <a:cubicBezTo>
                    <a:pt x="6345183" y="21965"/>
                    <a:pt x="6350000" y="33594"/>
                    <a:pt x="6350000" y="45720"/>
                  </a:cubicBezTo>
                  <a:lnTo>
                    <a:pt x="6350000" y="3129280"/>
                  </a:lnTo>
                  <a:cubicBezTo>
                    <a:pt x="6350000" y="3154531"/>
                    <a:pt x="6329530" y="3175000"/>
                    <a:pt x="6304280" y="3175000"/>
                  </a:cubicBezTo>
                  <a:lnTo>
                    <a:pt x="45720" y="3175000"/>
                  </a:lnTo>
                  <a:cubicBezTo>
                    <a:pt x="20470" y="3175000"/>
                    <a:pt x="0" y="3154531"/>
                    <a:pt x="0" y="3129280"/>
                  </a:cubicBezTo>
                  <a:lnTo>
                    <a:pt x="0" y="45720"/>
                  </a:lnTo>
                  <a:cubicBezTo>
                    <a:pt x="0" y="20470"/>
                    <a:pt x="20470" y="0"/>
                    <a:pt x="45720" y="0"/>
                  </a:cubicBezTo>
                  <a:close/>
                </a:path>
              </a:pathLst>
            </a:custGeom>
            <a:solidFill>
              <a:srgbClr val="46D9C5"/>
            </a:solidFill>
            <a:ln cap="sq">
              <a:noFill/>
              <a:prstDash val="solid"/>
              <a:miter/>
            </a:ln>
          </p:spPr>
        </p:sp>
        <p:sp>
          <p:nvSpPr>
            <p:cNvPr name="TextBox 8" id="8"/>
            <p:cNvSpPr txBox="true"/>
            <p:nvPr/>
          </p:nvSpPr>
          <p:spPr>
            <a:xfrm>
              <a:off x="0" y="9525"/>
              <a:ext cx="6350000" cy="3165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TỰ ĐỘNG</a:t>
              </a:r>
            </a:p>
          </p:txBody>
        </p:sp>
      </p:grpSp>
      <p:grpSp>
        <p:nvGrpSpPr>
          <p:cNvPr name="Group 9" id="9"/>
          <p:cNvGrpSpPr/>
          <p:nvPr/>
        </p:nvGrpSpPr>
        <p:grpSpPr>
          <a:xfrm rot="0">
            <a:off x="12620625" y="2857500"/>
            <a:ext cx="4762500" cy="2381250"/>
            <a:chOff x="0" y="0"/>
            <a:chExt cx="6350000" cy="3175000"/>
          </a:xfrm>
        </p:grpSpPr>
        <p:sp>
          <p:nvSpPr>
            <p:cNvPr name="Freeform 10" id="10"/>
            <p:cNvSpPr/>
            <p:nvPr/>
          </p:nvSpPr>
          <p:spPr>
            <a:xfrm flipH="false" flipV="false" rot="0">
              <a:off x="0" y="0"/>
              <a:ext cx="6350000" cy="3175000"/>
            </a:xfrm>
            <a:custGeom>
              <a:avLst/>
              <a:gdLst/>
              <a:ahLst/>
              <a:cxnLst/>
              <a:rect r="r" b="b" t="t" l="l"/>
              <a:pathLst>
                <a:path h="3175000" w="6350000">
                  <a:moveTo>
                    <a:pt x="45720" y="0"/>
                  </a:moveTo>
                  <a:lnTo>
                    <a:pt x="6304280" y="0"/>
                  </a:lnTo>
                  <a:cubicBezTo>
                    <a:pt x="6316406" y="0"/>
                    <a:pt x="6328035" y="4817"/>
                    <a:pt x="6336609" y="13391"/>
                  </a:cubicBezTo>
                  <a:cubicBezTo>
                    <a:pt x="6345183" y="21965"/>
                    <a:pt x="6350000" y="33594"/>
                    <a:pt x="6350000" y="45720"/>
                  </a:cubicBezTo>
                  <a:lnTo>
                    <a:pt x="6350000" y="3129280"/>
                  </a:lnTo>
                  <a:cubicBezTo>
                    <a:pt x="6350000" y="3154531"/>
                    <a:pt x="6329530" y="3175000"/>
                    <a:pt x="6304280" y="3175000"/>
                  </a:cubicBezTo>
                  <a:lnTo>
                    <a:pt x="45720" y="3175000"/>
                  </a:lnTo>
                  <a:cubicBezTo>
                    <a:pt x="20470" y="3175000"/>
                    <a:pt x="0" y="3154531"/>
                    <a:pt x="0" y="3129280"/>
                  </a:cubicBezTo>
                  <a:lnTo>
                    <a:pt x="0" y="45720"/>
                  </a:lnTo>
                  <a:cubicBezTo>
                    <a:pt x="0" y="20470"/>
                    <a:pt x="20470" y="0"/>
                    <a:pt x="45720" y="0"/>
                  </a:cubicBezTo>
                  <a:close/>
                </a:path>
              </a:pathLst>
            </a:custGeom>
            <a:solidFill>
              <a:srgbClr val="FF8A4C"/>
            </a:solidFill>
            <a:ln cap="sq">
              <a:noFill/>
              <a:prstDash val="solid"/>
              <a:miter/>
            </a:ln>
          </p:spPr>
        </p:sp>
        <p:sp>
          <p:nvSpPr>
            <p:cNvPr name="TextBox 11" id="11"/>
            <p:cNvSpPr txBox="true"/>
            <p:nvPr/>
          </p:nvSpPr>
          <p:spPr>
            <a:xfrm>
              <a:off x="0" y="9525"/>
              <a:ext cx="6350000" cy="3165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GIỌNG NÓI</a:t>
              </a:r>
            </a:p>
          </p:txBody>
        </p:sp>
      </p:grpSp>
      <p:sp>
        <p:nvSpPr>
          <p:cNvPr name="TextBox 12" id="12"/>
          <p:cNvSpPr txBox="true"/>
          <p:nvPr/>
        </p:nvSpPr>
        <p:spPr>
          <a:xfrm rot="0">
            <a:off x="1524000" y="5781675"/>
            <a:ext cx="4095750" cy="1045845"/>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Chạm để điều khiển từ xa thông qua các ứng dụng trên điện thoại</a:t>
            </a:r>
          </a:p>
        </p:txBody>
      </p:sp>
      <p:sp>
        <p:nvSpPr>
          <p:cNvPr name="TextBox 13" id="13"/>
          <p:cNvSpPr txBox="true"/>
          <p:nvPr/>
        </p:nvSpPr>
        <p:spPr>
          <a:xfrm rot="0">
            <a:off x="7239000" y="5781675"/>
            <a:ext cx="4095750" cy="139827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Tự động hóa theo lịch trình, cảm biến hoặc trạng thái thiết bị.</a:t>
            </a:r>
          </a:p>
          <a:p>
            <a:pPr algn="ctr">
              <a:lnSpc>
                <a:spcPts val="2835"/>
              </a:lnSpc>
            </a:pPr>
          </a:p>
        </p:txBody>
      </p:sp>
      <p:sp>
        <p:nvSpPr>
          <p:cNvPr name="TextBox 14" id="14"/>
          <p:cNvSpPr txBox="true"/>
          <p:nvPr/>
        </p:nvSpPr>
        <p:spPr>
          <a:xfrm rot="0">
            <a:off x="12954000" y="5781675"/>
            <a:ext cx="4095750" cy="1045845"/>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Điều khiển bằng giọng nói thông qua trợ lý ảo.</a:t>
            </a:r>
          </a:p>
          <a:p>
            <a:pPr algn="ctr">
              <a:lnSpc>
                <a:spcPts val="283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728"/>
        </a:solidFill>
      </p:bgPr>
    </p:bg>
    <p:spTree>
      <p:nvGrpSpPr>
        <p:cNvPr id="1" name=""/>
        <p:cNvGrpSpPr/>
        <p:nvPr/>
      </p:nvGrpSpPr>
      <p:grpSpPr>
        <a:xfrm>
          <a:off x="0" y="0"/>
          <a:ext cx="0" cy="0"/>
          <a:chOff x="0" y="0"/>
          <a:chExt cx="0" cy="0"/>
        </a:xfrm>
      </p:grpSpPr>
      <p:sp>
        <p:nvSpPr>
          <p:cNvPr name="Freeform 2" id="2"/>
          <p:cNvSpPr/>
          <p:nvPr/>
        </p:nvSpPr>
        <p:spPr>
          <a:xfrm flipH="false" flipV="false" rot="0">
            <a:off x="8572500" y="0"/>
            <a:ext cx="9715500" cy="10287000"/>
          </a:xfrm>
          <a:custGeom>
            <a:avLst/>
            <a:gdLst/>
            <a:ahLst/>
            <a:cxnLst/>
            <a:rect r="r" b="b" t="t" l="l"/>
            <a:pathLst>
              <a:path h="10287000" w="9715500">
                <a:moveTo>
                  <a:pt x="0" y="0"/>
                </a:moveTo>
                <a:lnTo>
                  <a:pt x="9715500" y="0"/>
                </a:lnTo>
                <a:lnTo>
                  <a:pt x="9715500" y="10287000"/>
                </a:lnTo>
                <a:lnTo>
                  <a:pt x="0" y="10287000"/>
                </a:lnTo>
                <a:lnTo>
                  <a:pt x="0" y="0"/>
                </a:lnTo>
                <a:close/>
              </a:path>
            </a:pathLst>
          </a:custGeom>
          <a:blipFill>
            <a:blip r:embed="rId2"/>
            <a:stretch>
              <a:fillRect l="0" t="-36" r="0" b="-36"/>
            </a:stretch>
          </a:blipFill>
          <a:ln cap="sq">
            <a:noFill/>
            <a:prstDash val="solid"/>
            <a:miter/>
          </a:ln>
        </p:spPr>
      </p:sp>
      <p:grpSp>
        <p:nvGrpSpPr>
          <p:cNvPr name="Group 3" id="3"/>
          <p:cNvGrpSpPr/>
          <p:nvPr/>
        </p:nvGrpSpPr>
        <p:grpSpPr>
          <a:xfrm rot="0">
            <a:off x="7810500" y="0"/>
            <a:ext cx="2857500" cy="10287000"/>
            <a:chOff x="0" y="0"/>
            <a:chExt cx="3810000" cy="13716000"/>
          </a:xfrm>
        </p:grpSpPr>
        <p:sp>
          <p:nvSpPr>
            <p:cNvPr name="Freeform 4" id="4"/>
            <p:cNvSpPr/>
            <p:nvPr/>
          </p:nvSpPr>
          <p:spPr>
            <a:xfrm flipH="false" flipV="false" rot="0">
              <a:off x="0" y="0"/>
              <a:ext cx="3810000" cy="13716000"/>
            </a:xfrm>
            <a:custGeom>
              <a:avLst/>
              <a:gdLst/>
              <a:ahLst/>
              <a:cxnLst/>
              <a:rect r="r" b="b" t="t" l="l"/>
              <a:pathLst>
                <a:path h="13716000" w="3810000">
                  <a:moveTo>
                    <a:pt x="0" y="0"/>
                  </a:moveTo>
                  <a:lnTo>
                    <a:pt x="3810000" y="0"/>
                  </a:lnTo>
                  <a:lnTo>
                    <a:pt x="3810000" y="13716000"/>
                  </a:lnTo>
                  <a:lnTo>
                    <a:pt x="0" y="13716000"/>
                  </a:lnTo>
                  <a:close/>
                </a:path>
              </a:pathLst>
            </a:custGeom>
            <a:solidFill>
              <a:srgbClr val="0B1728">
                <a:alpha val="74902"/>
              </a:srgbClr>
            </a:solidFill>
            <a:ln cap="sq">
              <a:noFill/>
              <a:prstDash val="solid"/>
              <a:miter/>
            </a:ln>
          </p:spPr>
        </p:sp>
        <p:sp>
          <p:nvSpPr>
            <p:cNvPr name="TextBox 5" id="5"/>
            <p:cNvSpPr txBox="true"/>
            <p:nvPr/>
          </p:nvSpPr>
          <p:spPr>
            <a:xfrm>
              <a:off x="0" y="-38100"/>
              <a:ext cx="3810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590675"/>
            <a:ext cx="8572500" cy="1980057"/>
          </a:xfrm>
          <a:prstGeom prst="rect">
            <a:avLst/>
          </a:prstGeom>
        </p:spPr>
        <p:txBody>
          <a:bodyPr anchor="t" rtlCol="false" tIns="0" lIns="0" bIns="0" rIns="0">
            <a:spAutoFit/>
          </a:bodyPr>
          <a:lstStyle/>
          <a:p>
            <a:pPr algn="l">
              <a:lnSpc>
                <a:spcPts val="7644"/>
              </a:lnSpc>
            </a:pPr>
            <a:r>
              <a:rPr lang="en-US" sz="7800" b="true">
                <a:solidFill>
                  <a:srgbClr val="FFFFFF"/>
                </a:solidFill>
                <a:latin typeface="Barlow Condensed Bold"/>
                <a:ea typeface="Barlow Condensed Bold"/>
                <a:cs typeface="Barlow Condensed Bold"/>
                <a:sym typeface="Barlow Condensed Bold"/>
              </a:rPr>
              <a:t>Ánh sáng thích nghi</a:t>
            </a:r>
          </a:p>
          <a:p>
            <a:pPr algn="l">
              <a:lnSpc>
                <a:spcPts val="7644"/>
              </a:lnSpc>
            </a:pPr>
            <a:r>
              <a:rPr lang="en-US" sz="7800" b="true">
                <a:solidFill>
                  <a:srgbClr val="FFFFFF"/>
                </a:solidFill>
                <a:latin typeface="Barlow Condensed Bold"/>
                <a:ea typeface="Barlow Condensed Bold"/>
                <a:cs typeface="Barlow Condensed Bold"/>
                <a:sym typeface="Barlow Condensed Bold"/>
              </a:rPr>
              <a:t>với nhịp sống</a:t>
            </a:r>
          </a:p>
        </p:txBody>
      </p:sp>
      <p:sp>
        <p:nvSpPr>
          <p:cNvPr name="TextBox 7" id="7"/>
          <p:cNvSpPr txBox="true"/>
          <p:nvPr/>
        </p:nvSpPr>
        <p:spPr>
          <a:xfrm rot="0">
            <a:off x="1028700" y="4458705"/>
            <a:ext cx="6572250" cy="2325370"/>
          </a:xfrm>
          <a:prstGeom prst="rect">
            <a:avLst/>
          </a:prstGeom>
        </p:spPr>
        <p:txBody>
          <a:bodyPr anchor="t" rtlCol="false" tIns="0" lIns="0" bIns="0" rIns="0">
            <a:spAutoFit/>
          </a:bodyPr>
          <a:lstStyle/>
          <a:p>
            <a:pPr algn="l">
              <a:lnSpc>
                <a:spcPts val="3814"/>
              </a:lnSpc>
            </a:pPr>
            <a:r>
              <a:rPr lang="en-US" sz="2724">
                <a:solidFill>
                  <a:srgbClr val="FFFFFF"/>
                </a:solidFill>
                <a:latin typeface="Be Vietnam"/>
                <a:ea typeface="Be Vietnam"/>
                <a:cs typeface="Be Vietnam"/>
                <a:sym typeface="Be Vietnam"/>
              </a:rPr>
              <a:t>-Tự độ</a:t>
            </a:r>
            <a:r>
              <a:rPr lang="en-US" sz="2724">
                <a:solidFill>
                  <a:srgbClr val="FFFFFF"/>
                </a:solidFill>
                <a:latin typeface="Be Vietnam"/>
                <a:ea typeface="Be Vietnam"/>
                <a:cs typeface="Be Vietnam"/>
                <a:sym typeface="Be Vietnam"/>
              </a:rPr>
              <a:t>ng bật/tắt đèn dựa trên chuyển động và ánh sáng môi trường.</a:t>
            </a:r>
          </a:p>
          <a:p>
            <a:pPr algn="l">
              <a:lnSpc>
                <a:spcPts val="3814"/>
              </a:lnSpc>
            </a:pPr>
            <a:r>
              <a:rPr lang="en-US" sz="2724">
                <a:solidFill>
                  <a:srgbClr val="FFFFFF"/>
                </a:solidFill>
                <a:latin typeface="Be Vietnam"/>
                <a:ea typeface="Be Vietnam"/>
                <a:cs typeface="Be Vietnam"/>
                <a:sym typeface="Be Vietnam"/>
              </a:rPr>
              <a:t>-Điều khiển điều hòa, quạt, rèm và ổ cắm từ xa.</a:t>
            </a:r>
          </a:p>
          <a:p>
            <a:pPr algn="l">
              <a:lnSpc>
                <a:spcPts val="339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1728"/>
        </a:solidFill>
      </p:bgPr>
    </p:bg>
    <p:spTree>
      <p:nvGrpSpPr>
        <p:cNvPr id="1" name=""/>
        <p:cNvGrpSpPr/>
        <p:nvPr/>
      </p:nvGrpSpPr>
      <p:grpSpPr>
        <a:xfrm>
          <a:off x="0" y="0"/>
          <a:ext cx="0" cy="0"/>
          <a:chOff x="0" y="0"/>
          <a:chExt cx="0" cy="0"/>
        </a:xfrm>
      </p:grpSpPr>
      <p:sp>
        <p:nvSpPr>
          <p:cNvPr name="Freeform 2" id="2"/>
          <p:cNvSpPr/>
          <p:nvPr/>
        </p:nvSpPr>
        <p:spPr>
          <a:xfrm flipH="false" flipV="false" rot="0">
            <a:off x="-124050" y="0"/>
            <a:ext cx="10001250" cy="10287000"/>
          </a:xfrm>
          <a:custGeom>
            <a:avLst/>
            <a:gdLst/>
            <a:ahLst/>
            <a:cxnLst/>
            <a:rect r="r" b="b" t="t" l="l"/>
            <a:pathLst>
              <a:path h="10287000" w="10001250">
                <a:moveTo>
                  <a:pt x="0" y="0"/>
                </a:moveTo>
                <a:lnTo>
                  <a:pt x="10001250" y="0"/>
                </a:lnTo>
                <a:lnTo>
                  <a:pt x="10001250" y="10287000"/>
                </a:lnTo>
                <a:lnTo>
                  <a:pt x="0" y="10287000"/>
                </a:lnTo>
                <a:lnTo>
                  <a:pt x="0" y="0"/>
                </a:lnTo>
                <a:close/>
              </a:path>
            </a:pathLst>
          </a:custGeom>
          <a:blipFill>
            <a:blip r:embed="rId2"/>
            <a:stretch>
              <a:fillRect l="-14" t="0" r="-14" b="0"/>
            </a:stretch>
          </a:blipFill>
          <a:ln cap="sq">
            <a:noFill/>
            <a:prstDash val="solid"/>
            <a:miter/>
          </a:ln>
        </p:spPr>
      </p:sp>
      <p:sp>
        <p:nvSpPr>
          <p:cNvPr name="TextBox 3" id="3"/>
          <p:cNvSpPr txBox="true"/>
          <p:nvPr/>
        </p:nvSpPr>
        <p:spPr>
          <a:xfrm rot="0">
            <a:off x="10668000" y="1543050"/>
            <a:ext cx="6572250" cy="1980057"/>
          </a:xfrm>
          <a:prstGeom prst="rect">
            <a:avLst/>
          </a:prstGeom>
        </p:spPr>
        <p:txBody>
          <a:bodyPr anchor="t" rtlCol="false" tIns="0" lIns="0" bIns="0" rIns="0">
            <a:spAutoFit/>
          </a:bodyPr>
          <a:lstStyle/>
          <a:p>
            <a:pPr algn="l">
              <a:lnSpc>
                <a:spcPts val="7644"/>
              </a:lnSpc>
            </a:pPr>
            <a:r>
              <a:rPr lang="en-US" sz="7800" b="true">
                <a:solidFill>
                  <a:srgbClr val="FFFFFF"/>
                </a:solidFill>
                <a:latin typeface="Barlow Condensed Bold"/>
                <a:ea typeface="Barlow Condensed Bold"/>
                <a:cs typeface="Barlow Condensed Bold"/>
                <a:sym typeface="Barlow Condensed Bold"/>
              </a:rPr>
              <a:t>An ninh chủ động,</a:t>
            </a:r>
          </a:p>
          <a:p>
            <a:pPr algn="l">
              <a:lnSpc>
                <a:spcPts val="7644"/>
              </a:lnSpc>
            </a:pPr>
            <a:r>
              <a:rPr lang="en-US" sz="7800" b="true">
                <a:solidFill>
                  <a:srgbClr val="FFFFFF"/>
                </a:solidFill>
                <a:latin typeface="Barlow Condensed Bold"/>
                <a:ea typeface="Barlow Condensed Bold"/>
                <a:cs typeface="Barlow Condensed Bold"/>
                <a:sym typeface="Barlow Condensed Bold"/>
              </a:rPr>
              <a:t>phản ứng sớm</a:t>
            </a:r>
          </a:p>
        </p:txBody>
      </p:sp>
      <p:sp>
        <p:nvSpPr>
          <p:cNvPr name="TextBox 4" id="4"/>
          <p:cNvSpPr txBox="true"/>
          <p:nvPr/>
        </p:nvSpPr>
        <p:spPr>
          <a:xfrm rot="0">
            <a:off x="10668000" y="4121406"/>
            <a:ext cx="6191250" cy="3312795"/>
          </a:xfrm>
          <a:prstGeom prst="rect">
            <a:avLst/>
          </a:prstGeom>
        </p:spPr>
        <p:txBody>
          <a:bodyPr anchor="t" rtlCol="false" tIns="0" lIns="0" bIns="0" rIns="0">
            <a:spAutoFit/>
          </a:bodyPr>
          <a:lstStyle/>
          <a:p>
            <a:pPr algn="l">
              <a:lnSpc>
                <a:spcPts val="3824"/>
              </a:lnSpc>
            </a:pPr>
            <a:r>
              <a:rPr lang="en-US" sz="2549">
                <a:solidFill>
                  <a:srgbClr val="FFFFFF"/>
                </a:solidFill>
                <a:latin typeface="Be Vietnam"/>
                <a:ea typeface="Be Vietnam"/>
                <a:cs typeface="Be Vietnam"/>
                <a:sym typeface="Be Vietnam"/>
              </a:rPr>
              <a:t>-Camera và cảm biến cửa gửi thông báo khi phát hiện bất thường.</a:t>
            </a:r>
          </a:p>
          <a:p>
            <a:pPr algn="l">
              <a:lnSpc>
                <a:spcPts val="3824"/>
              </a:lnSpc>
            </a:pPr>
            <a:r>
              <a:rPr lang="en-US" sz="2549">
                <a:solidFill>
                  <a:srgbClr val="FFFFFF"/>
                </a:solidFill>
                <a:latin typeface="Be Vietnam"/>
                <a:ea typeface="Be Vietnam"/>
                <a:cs typeface="Be Vietnam"/>
                <a:sym typeface="Be Vietnam"/>
              </a:rPr>
              <a:t>-Cảm biến khói, khí gas và rò rỉ nước hỗ trợ cảnh báo sớm.</a:t>
            </a:r>
          </a:p>
          <a:p>
            <a:pPr algn="l">
              <a:lnSpc>
                <a:spcPts val="3824"/>
              </a:lnSpc>
            </a:pPr>
            <a:r>
              <a:rPr lang="en-US" sz="2549">
                <a:solidFill>
                  <a:srgbClr val="FFFFFF"/>
                </a:solidFill>
                <a:latin typeface="Be Vietnam"/>
                <a:ea typeface="Be Vietnam"/>
                <a:cs typeface="Be Vietnam"/>
                <a:sym typeface="Be Vietnam"/>
              </a:rPr>
              <a:t>-Khóa cửa thông minh cho phép quản lý quyền truy cập.</a:t>
            </a:r>
          </a:p>
          <a:p>
            <a:pPr algn="l">
              <a:lnSpc>
                <a:spcPts val="3824"/>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728"/>
        </a:solidFill>
      </p:bgPr>
    </p:bg>
    <p:spTree>
      <p:nvGrpSpPr>
        <p:cNvPr id="1" name=""/>
        <p:cNvGrpSpPr/>
        <p:nvPr/>
      </p:nvGrpSpPr>
      <p:grpSpPr>
        <a:xfrm>
          <a:off x="0" y="0"/>
          <a:ext cx="0" cy="0"/>
          <a:chOff x="0" y="0"/>
          <a:chExt cx="0" cy="0"/>
        </a:xfrm>
      </p:grpSpPr>
      <p:sp>
        <p:nvSpPr>
          <p:cNvPr name="Freeform 2" id="2"/>
          <p:cNvSpPr/>
          <p:nvPr/>
        </p:nvSpPr>
        <p:spPr>
          <a:xfrm flipH="false" flipV="false" rot="0">
            <a:off x="9048750" y="0"/>
            <a:ext cx="9239250" cy="10287000"/>
          </a:xfrm>
          <a:custGeom>
            <a:avLst/>
            <a:gdLst/>
            <a:ahLst/>
            <a:cxnLst/>
            <a:rect r="r" b="b" t="t" l="l"/>
            <a:pathLst>
              <a:path h="10287000" w="9239250">
                <a:moveTo>
                  <a:pt x="0" y="0"/>
                </a:moveTo>
                <a:lnTo>
                  <a:pt x="9239250" y="0"/>
                </a:lnTo>
                <a:lnTo>
                  <a:pt x="9239250" y="10287000"/>
                </a:lnTo>
                <a:lnTo>
                  <a:pt x="0" y="10287000"/>
                </a:lnTo>
                <a:lnTo>
                  <a:pt x="0" y="0"/>
                </a:lnTo>
                <a:close/>
              </a:path>
            </a:pathLst>
          </a:custGeom>
          <a:blipFill>
            <a:blip r:embed="rId2"/>
            <a:stretch>
              <a:fillRect l="0" t="-36" r="0" b="-36"/>
            </a:stretch>
          </a:blipFill>
          <a:ln cap="sq">
            <a:noFill/>
            <a:prstDash val="solid"/>
            <a:miter/>
          </a:ln>
        </p:spPr>
      </p:sp>
      <p:sp>
        <p:nvSpPr>
          <p:cNvPr name="TextBox 3" id="3"/>
          <p:cNvSpPr txBox="true"/>
          <p:nvPr/>
        </p:nvSpPr>
        <p:spPr>
          <a:xfrm rot="0">
            <a:off x="1047750" y="1590675"/>
            <a:ext cx="8763000" cy="1980057"/>
          </a:xfrm>
          <a:prstGeom prst="rect">
            <a:avLst/>
          </a:prstGeom>
        </p:spPr>
        <p:txBody>
          <a:bodyPr anchor="t" rtlCol="false" tIns="0" lIns="0" bIns="0" rIns="0">
            <a:spAutoFit/>
          </a:bodyPr>
          <a:lstStyle/>
          <a:p>
            <a:pPr algn="l">
              <a:lnSpc>
                <a:spcPts val="7644"/>
              </a:lnSpc>
            </a:pPr>
            <a:r>
              <a:rPr lang="en-US" sz="7800" b="true">
                <a:solidFill>
                  <a:srgbClr val="FFFFFF"/>
                </a:solidFill>
                <a:latin typeface="Barlow Condensed Bold"/>
                <a:ea typeface="Barlow Condensed Bold"/>
                <a:cs typeface="Barlow Condensed Bold"/>
                <a:sym typeface="Barlow Condensed Bold"/>
              </a:rPr>
              <a:t>Dùng đúng năng lượng,</a:t>
            </a:r>
          </a:p>
          <a:p>
            <a:pPr algn="l">
              <a:lnSpc>
                <a:spcPts val="7644"/>
              </a:lnSpc>
            </a:pPr>
            <a:r>
              <a:rPr lang="en-US" sz="7800" b="true">
                <a:solidFill>
                  <a:srgbClr val="FFFFFF"/>
                </a:solidFill>
                <a:latin typeface="Barlow Condensed Bold"/>
                <a:ea typeface="Barlow Condensed Bold"/>
                <a:cs typeface="Barlow Condensed Bold"/>
                <a:sym typeface="Barlow Condensed Bold"/>
              </a:rPr>
              <a:t>đúng thời điểm</a:t>
            </a:r>
          </a:p>
        </p:txBody>
      </p:sp>
      <p:sp>
        <p:nvSpPr>
          <p:cNvPr name="TextBox 4" id="4"/>
          <p:cNvSpPr txBox="true"/>
          <p:nvPr/>
        </p:nvSpPr>
        <p:spPr>
          <a:xfrm rot="0">
            <a:off x="1047750" y="3869055"/>
            <a:ext cx="6667500" cy="2836545"/>
          </a:xfrm>
          <a:prstGeom prst="rect">
            <a:avLst/>
          </a:prstGeom>
        </p:spPr>
        <p:txBody>
          <a:bodyPr anchor="t" rtlCol="false" tIns="0" lIns="0" bIns="0" rIns="0">
            <a:spAutoFit/>
          </a:bodyPr>
          <a:lstStyle/>
          <a:p>
            <a:pPr algn="l">
              <a:lnSpc>
                <a:spcPts val="3779"/>
              </a:lnSpc>
            </a:pPr>
            <a:r>
              <a:rPr lang="en-US" sz="2699">
                <a:solidFill>
                  <a:srgbClr val="FFFFFF"/>
                </a:solidFill>
                <a:latin typeface="Be Vietnam"/>
                <a:ea typeface="Be Vietnam"/>
                <a:cs typeface="Be Vietnam"/>
                <a:sym typeface="Be Vietnam"/>
              </a:rPr>
              <a:t>-</a:t>
            </a:r>
            <a:r>
              <a:rPr lang="en-US" sz="2699">
                <a:solidFill>
                  <a:srgbClr val="FFFFFF"/>
                </a:solidFill>
                <a:latin typeface="Be Vietnam"/>
                <a:ea typeface="Be Vietnam"/>
                <a:cs typeface="Be Vietnam"/>
                <a:sym typeface="Be Vietnam"/>
              </a:rPr>
              <a:t>Theo dõi mức tiêu thụ điện của thiết bị.</a:t>
            </a:r>
          </a:p>
          <a:p>
            <a:pPr algn="l">
              <a:lnSpc>
                <a:spcPts val="3779"/>
              </a:lnSpc>
            </a:pPr>
            <a:r>
              <a:rPr lang="en-US" sz="2699">
                <a:solidFill>
                  <a:srgbClr val="FFFFFF"/>
                </a:solidFill>
                <a:latin typeface="Be Vietnam"/>
                <a:ea typeface="Be Vietnam"/>
                <a:cs typeface="Be Vietnam"/>
                <a:sym typeface="Be Vietnam"/>
              </a:rPr>
              <a:t>-Tự động điều chỉnh điều hòa và chiếu sáng theo nhu cầu.</a:t>
            </a:r>
          </a:p>
          <a:p>
            <a:pPr algn="l">
              <a:lnSpc>
                <a:spcPts val="3779"/>
              </a:lnSpc>
            </a:pPr>
            <a:r>
              <a:rPr lang="en-US" sz="2699">
                <a:solidFill>
                  <a:srgbClr val="FFFFFF"/>
                </a:solidFill>
                <a:latin typeface="Be Vietnam"/>
                <a:ea typeface="Be Vietnam"/>
                <a:cs typeface="Be Vietnam"/>
                <a:sym typeface="Be Vietnam"/>
              </a:rPr>
              <a:t>-Hỗ trợ phát hiện thiết bị hoạt động không cần thiết.</a:t>
            </a:r>
          </a:p>
          <a:p>
            <a:pPr algn="l">
              <a:lnSpc>
                <a:spcPts val="3779"/>
              </a:lnSpc>
            </a:pPr>
          </a:p>
        </p:txBody>
      </p:sp>
      <p:sp>
        <p:nvSpPr>
          <p:cNvPr name="TextBox 5" id="5"/>
          <p:cNvSpPr txBox="true"/>
          <p:nvPr/>
        </p:nvSpPr>
        <p:spPr>
          <a:xfrm rot="0">
            <a:off x="1047750" y="7867650"/>
            <a:ext cx="7143750" cy="314325"/>
          </a:xfrm>
          <a:prstGeom prst="rect">
            <a:avLst/>
          </a:prstGeom>
        </p:spPr>
        <p:txBody>
          <a:bodyPr anchor="t" rtlCol="false" tIns="0" lIns="0" bIns="0" rIns="0">
            <a:spAutoFit/>
          </a:bodyPr>
          <a:lstStyle/>
          <a:p>
            <a:pPr algn="l">
              <a:lnSpc>
                <a:spcPts val="2624"/>
              </a:lnSpc>
            </a:pPr>
            <a:r>
              <a:rPr lang="en-US" sz="1874" b="true">
                <a:solidFill>
                  <a:srgbClr val="46D9C5"/>
                </a:solidFill>
                <a:latin typeface="Be Vietnam Ultra-Bold"/>
                <a:ea typeface="Be Vietnam Ultra-Bold"/>
                <a:cs typeface="Be Vietnam Ultra-Bold"/>
                <a:sym typeface="Be Vietnam Ultra-Bold"/>
              </a:rPr>
              <a:t>TIẾT KIỆM  •  MINH BẠCH  •  CHỦ ĐỘNG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172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001250" cy="10287000"/>
          </a:xfrm>
          <a:custGeom>
            <a:avLst/>
            <a:gdLst/>
            <a:ahLst/>
            <a:cxnLst/>
            <a:rect r="r" b="b" t="t" l="l"/>
            <a:pathLst>
              <a:path h="10287000" w="10001250">
                <a:moveTo>
                  <a:pt x="0" y="0"/>
                </a:moveTo>
                <a:lnTo>
                  <a:pt x="10001250" y="0"/>
                </a:lnTo>
                <a:lnTo>
                  <a:pt x="10001250" y="10287000"/>
                </a:lnTo>
                <a:lnTo>
                  <a:pt x="0" y="10287000"/>
                </a:lnTo>
                <a:lnTo>
                  <a:pt x="0" y="0"/>
                </a:lnTo>
                <a:close/>
              </a:path>
            </a:pathLst>
          </a:custGeom>
          <a:blipFill>
            <a:blip r:embed="rId2"/>
            <a:stretch>
              <a:fillRect l="-14" t="0" r="-14" b="0"/>
            </a:stretch>
          </a:blipFill>
          <a:ln cap="sq">
            <a:noFill/>
            <a:prstDash val="solid"/>
            <a:miter/>
          </a:ln>
        </p:spPr>
      </p:sp>
      <p:sp>
        <p:nvSpPr>
          <p:cNvPr name="TextBox 3" id="3"/>
          <p:cNvSpPr txBox="true"/>
          <p:nvPr/>
        </p:nvSpPr>
        <p:spPr>
          <a:xfrm rot="0">
            <a:off x="10668000" y="1609725"/>
            <a:ext cx="6572250" cy="1710500"/>
          </a:xfrm>
          <a:prstGeom prst="rect">
            <a:avLst/>
          </a:prstGeom>
        </p:spPr>
        <p:txBody>
          <a:bodyPr anchor="t" rtlCol="false" tIns="0" lIns="0" bIns="0" rIns="0">
            <a:spAutoFit/>
          </a:bodyPr>
          <a:lstStyle/>
          <a:p>
            <a:pPr algn="l">
              <a:lnSpc>
                <a:spcPts val="6541"/>
              </a:lnSpc>
            </a:pPr>
            <a:r>
              <a:rPr lang="en-US" sz="6675" b="true">
                <a:solidFill>
                  <a:srgbClr val="FFFFFF"/>
                </a:solidFill>
                <a:latin typeface="Barlow Condensed Bold"/>
                <a:ea typeface="Barlow Condensed Bold"/>
                <a:cs typeface="Barlow Condensed Bold"/>
                <a:sym typeface="Barlow Condensed Bold"/>
              </a:rPr>
              <a:t>Nói một câu.</a:t>
            </a:r>
          </a:p>
          <a:p>
            <a:pPr algn="l">
              <a:lnSpc>
                <a:spcPts val="6541"/>
              </a:lnSpc>
            </a:pPr>
            <a:r>
              <a:rPr lang="en-US" sz="6675" b="true">
                <a:solidFill>
                  <a:srgbClr val="FFFFFF"/>
                </a:solidFill>
                <a:latin typeface="Barlow Condensed Bold"/>
                <a:ea typeface="Barlow Condensed Bold"/>
                <a:cs typeface="Barlow Condensed Bold"/>
                <a:sym typeface="Barlow Condensed Bold"/>
              </a:rPr>
              <a:t>Cả ngôi nhà phối hợp.</a:t>
            </a:r>
          </a:p>
        </p:txBody>
      </p:sp>
      <p:sp>
        <p:nvSpPr>
          <p:cNvPr name="TextBox 4" id="4"/>
          <p:cNvSpPr txBox="true"/>
          <p:nvPr/>
        </p:nvSpPr>
        <p:spPr>
          <a:xfrm rot="0">
            <a:off x="10668000" y="4512605"/>
            <a:ext cx="6191250" cy="2776538"/>
          </a:xfrm>
          <a:prstGeom prst="rect">
            <a:avLst/>
          </a:prstGeom>
        </p:spPr>
        <p:txBody>
          <a:bodyPr anchor="t" rtlCol="false" tIns="0" lIns="0" bIns="0" rIns="0">
            <a:spAutoFit/>
          </a:bodyPr>
          <a:lstStyle/>
          <a:p>
            <a:pPr algn="l">
              <a:lnSpc>
                <a:spcPts val="3697"/>
              </a:lnSpc>
            </a:pPr>
            <a:r>
              <a:rPr lang="en-US" sz="2549">
                <a:solidFill>
                  <a:srgbClr val="FFFFFF"/>
                </a:solidFill>
                <a:latin typeface="Be Vietnam"/>
                <a:ea typeface="Be Vietnam"/>
                <a:cs typeface="Be Vietnam"/>
                <a:sym typeface="Be Vietnam"/>
              </a:rPr>
              <a:t>-Điều khiển thiết bị bằng giọng nói.</a:t>
            </a:r>
          </a:p>
          <a:p>
            <a:pPr algn="l">
              <a:lnSpc>
                <a:spcPts val="3697"/>
              </a:lnSpc>
            </a:pPr>
            <a:r>
              <a:rPr lang="en-US" sz="2549">
                <a:solidFill>
                  <a:srgbClr val="FFFFFF"/>
                </a:solidFill>
                <a:latin typeface="Be Vietnam"/>
                <a:ea typeface="Be Vietnam"/>
                <a:cs typeface="Be Vietnam"/>
                <a:sym typeface="Be Vietnam"/>
              </a:rPr>
              <a:t>-Kết hợp nhiều thiết bị trong một kịch bản tự động.</a:t>
            </a:r>
          </a:p>
          <a:p>
            <a:pPr algn="l">
              <a:lnSpc>
                <a:spcPts val="3697"/>
              </a:lnSpc>
            </a:pPr>
            <a:r>
              <a:rPr lang="en-US" sz="2549">
                <a:solidFill>
                  <a:srgbClr val="FFFFFF"/>
                </a:solidFill>
                <a:latin typeface="Be Vietnam"/>
                <a:ea typeface="Be Vietnam"/>
                <a:cs typeface="Be Vietnam"/>
                <a:sym typeface="Be Vietnam"/>
              </a:rPr>
              <a:t>-Ứng dụng AI để phân tích thói quen và đưa ra gợi ý phù hợp khi có hỗ trợ.</a:t>
            </a:r>
          </a:p>
          <a:p>
            <a:pPr algn="l">
              <a:lnSpc>
                <a:spcPts val="3697"/>
              </a:lnSpc>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sp>
        <p:nvSpPr>
          <p:cNvPr name="TextBox 2" id="2"/>
          <p:cNvSpPr txBox="true"/>
          <p:nvPr/>
        </p:nvSpPr>
        <p:spPr>
          <a:xfrm rot="0">
            <a:off x="1047750" y="847725"/>
            <a:ext cx="152400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Ba xu hướng định hình thế hệ tiếp theo</a:t>
            </a:r>
          </a:p>
        </p:txBody>
      </p:sp>
      <p:grpSp>
        <p:nvGrpSpPr>
          <p:cNvPr name="Group 3" id="3"/>
          <p:cNvGrpSpPr/>
          <p:nvPr/>
        </p:nvGrpSpPr>
        <p:grpSpPr>
          <a:xfrm rot="0">
            <a:off x="1143000" y="2952750"/>
            <a:ext cx="4953000" cy="2000250"/>
            <a:chOff x="0" y="0"/>
            <a:chExt cx="6604000" cy="2667000"/>
          </a:xfrm>
        </p:grpSpPr>
        <p:sp>
          <p:nvSpPr>
            <p:cNvPr name="Freeform 4" id="4"/>
            <p:cNvSpPr/>
            <p:nvPr/>
          </p:nvSpPr>
          <p:spPr>
            <a:xfrm flipH="false" flipV="false" rot="0">
              <a:off x="0" y="0"/>
              <a:ext cx="6604000" cy="2667000"/>
            </a:xfrm>
            <a:custGeom>
              <a:avLst/>
              <a:gdLst/>
              <a:ahLst/>
              <a:cxnLst/>
              <a:rect r="r" b="b" t="t" l="l"/>
              <a:pathLst>
                <a:path h="2667000" w="6604000">
                  <a:moveTo>
                    <a:pt x="43962" y="0"/>
                  </a:moveTo>
                  <a:lnTo>
                    <a:pt x="6560038" y="0"/>
                  </a:lnTo>
                  <a:cubicBezTo>
                    <a:pt x="6571698" y="0"/>
                    <a:pt x="6582880" y="4632"/>
                    <a:pt x="6591124" y="12876"/>
                  </a:cubicBezTo>
                  <a:cubicBezTo>
                    <a:pt x="6599368" y="21120"/>
                    <a:pt x="6604000" y="32302"/>
                    <a:pt x="6604000" y="43962"/>
                  </a:cubicBezTo>
                  <a:lnTo>
                    <a:pt x="6604000" y="2623039"/>
                  </a:lnTo>
                  <a:cubicBezTo>
                    <a:pt x="6604000" y="2634698"/>
                    <a:pt x="6599368" y="2645880"/>
                    <a:pt x="6591124" y="2654124"/>
                  </a:cubicBezTo>
                  <a:cubicBezTo>
                    <a:pt x="6582880" y="2662368"/>
                    <a:pt x="6571698" y="2667000"/>
                    <a:pt x="6560038" y="2667000"/>
                  </a:cubicBezTo>
                  <a:lnTo>
                    <a:pt x="43962" y="2667000"/>
                  </a:lnTo>
                  <a:cubicBezTo>
                    <a:pt x="32302" y="2667000"/>
                    <a:pt x="21120" y="2662368"/>
                    <a:pt x="12876" y="2654124"/>
                  </a:cubicBezTo>
                  <a:cubicBezTo>
                    <a:pt x="4632" y="2645880"/>
                    <a:pt x="0" y="2634698"/>
                    <a:pt x="0" y="2623039"/>
                  </a:cubicBezTo>
                  <a:lnTo>
                    <a:pt x="0" y="43962"/>
                  </a:lnTo>
                  <a:cubicBezTo>
                    <a:pt x="0" y="32302"/>
                    <a:pt x="4632" y="21120"/>
                    <a:pt x="12876" y="12876"/>
                  </a:cubicBezTo>
                  <a:cubicBezTo>
                    <a:pt x="21120" y="4632"/>
                    <a:pt x="32302" y="0"/>
                    <a:pt x="43962" y="0"/>
                  </a:cubicBezTo>
                  <a:close/>
                </a:path>
              </a:pathLst>
            </a:custGeom>
            <a:solidFill>
              <a:srgbClr val="2D7FF9"/>
            </a:solidFill>
            <a:ln cap="sq">
              <a:noFill/>
              <a:prstDash val="solid"/>
              <a:miter/>
            </a:ln>
          </p:spPr>
        </p:sp>
        <p:sp>
          <p:nvSpPr>
            <p:cNvPr name="TextBox 5" id="5"/>
            <p:cNvSpPr txBox="true"/>
            <p:nvPr/>
          </p:nvSpPr>
          <p:spPr>
            <a:xfrm>
              <a:off x="0" y="9525"/>
              <a:ext cx="6604000" cy="2657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AIoT</a:t>
              </a:r>
            </a:p>
          </p:txBody>
        </p:sp>
      </p:grpSp>
      <p:grpSp>
        <p:nvGrpSpPr>
          <p:cNvPr name="Group 6" id="6"/>
          <p:cNvGrpSpPr/>
          <p:nvPr/>
        </p:nvGrpSpPr>
        <p:grpSpPr>
          <a:xfrm rot="0">
            <a:off x="6858000" y="2952750"/>
            <a:ext cx="4953000" cy="2000250"/>
            <a:chOff x="0" y="0"/>
            <a:chExt cx="6604000" cy="2667000"/>
          </a:xfrm>
        </p:grpSpPr>
        <p:sp>
          <p:nvSpPr>
            <p:cNvPr name="Freeform 7" id="7"/>
            <p:cNvSpPr/>
            <p:nvPr/>
          </p:nvSpPr>
          <p:spPr>
            <a:xfrm flipH="false" flipV="false" rot="0">
              <a:off x="0" y="0"/>
              <a:ext cx="6604000" cy="2667000"/>
            </a:xfrm>
            <a:custGeom>
              <a:avLst/>
              <a:gdLst/>
              <a:ahLst/>
              <a:cxnLst/>
              <a:rect r="r" b="b" t="t" l="l"/>
              <a:pathLst>
                <a:path h="2667000" w="6604000">
                  <a:moveTo>
                    <a:pt x="43962" y="0"/>
                  </a:moveTo>
                  <a:lnTo>
                    <a:pt x="6560038" y="0"/>
                  </a:lnTo>
                  <a:cubicBezTo>
                    <a:pt x="6571698" y="0"/>
                    <a:pt x="6582880" y="4632"/>
                    <a:pt x="6591124" y="12876"/>
                  </a:cubicBezTo>
                  <a:cubicBezTo>
                    <a:pt x="6599368" y="21120"/>
                    <a:pt x="6604000" y="32302"/>
                    <a:pt x="6604000" y="43962"/>
                  </a:cubicBezTo>
                  <a:lnTo>
                    <a:pt x="6604000" y="2623039"/>
                  </a:lnTo>
                  <a:cubicBezTo>
                    <a:pt x="6604000" y="2634698"/>
                    <a:pt x="6599368" y="2645880"/>
                    <a:pt x="6591124" y="2654124"/>
                  </a:cubicBezTo>
                  <a:cubicBezTo>
                    <a:pt x="6582880" y="2662368"/>
                    <a:pt x="6571698" y="2667000"/>
                    <a:pt x="6560038" y="2667000"/>
                  </a:cubicBezTo>
                  <a:lnTo>
                    <a:pt x="43962" y="2667000"/>
                  </a:lnTo>
                  <a:cubicBezTo>
                    <a:pt x="32302" y="2667000"/>
                    <a:pt x="21120" y="2662368"/>
                    <a:pt x="12876" y="2654124"/>
                  </a:cubicBezTo>
                  <a:cubicBezTo>
                    <a:pt x="4632" y="2645880"/>
                    <a:pt x="0" y="2634698"/>
                    <a:pt x="0" y="2623039"/>
                  </a:cubicBezTo>
                  <a:lnTo>
                    <a:pt x="0" y="43962"/>
                  </a:lnTo>
                  <a:cubicBezTo>
                    <a:pt x="0" y="32302"/>
                    <a:pt x="4632" y="21120"/>
                    <a:pt x="12876" y="12876"/>
                  </a:cubicBezTo>
                  <a:cubicBezTo>
                    <a:pt x="21120" y="4632"/>
                    <a:pt x="32302" y="0"/>
                    <a:pt x="43962" y="0"/>
                  </a:cubicBezTo>
                  <a:close/>
                </a:path>
              </a:pathLst>
            </a:custGeom>
            <a:solidFill>
              <a:srgbClr val="46D9C5"/>
            </a:solidFill>
            <a:ln cap="sq">
              <a:noFill/>
              <a:prstDash val="solid"/>
              <a:miter/>
            </a:ln>
          </p:spPr>
        </p:sp>
        <p:sp>
          <p:nvSpPr>
            <p:cNvPr name="TextBox 8" id="8"/>
            <p:cNvSpPr txBox="true"/>
            <p:nvPr/>
          </p:nvSpPr>
          <p:spPr>
            <a:xfrm>
              <a:off x="0" y="9525"/>
              <a:ext cx="6604000" cy="2657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EDGE</a:t>
              </a:r>
            </a:p>
          </p:txBody>
        </p:sp>
      </p:grpSp>
      <p:grpSp>
        <p:nvGrpSpPr>
          <p:cNvPr name="Group 9" id="9"/>
          <p:cNvGrpSpPr/>
          <p:nvPr/>
        </p:nvGrpSpPr>
        <p:grpSpPr>
          <a:xfrm rot="0">
            <a:off x="12573000" y="2952750"/>
            <a:ext cx="4953000" cy="2000250"/>
            <a:chOff x="0" y="0"/>
            <a:chExt cx="6604000" cy="2667000"/>
          </a:xfrm>
        </p:grpSpPr>
        <p:sp>
          <p:nvSpPr>
            <p:cNvPr name="Freeform 10" id="10"/>
            <p:cNvSpPr/>
            <p:nvPr/>
          </p:nvSpPr>
          <p:spPr>
            <a:xfrm flipH="false" flipV="false" rot="0">
              <a:off x="0" y="0"/>
              <a:ext cx="6604000" cy="2667000"/>
            </a:xfrm>
            <a:custGeom>
              <a:avLst/>
              <a:gdLst/>
              <a:ahLst/>
              <a:cxnLst/>
              <a:rect r="r" b="b" t="t" l="l"/>
              <a:pathLst>
                <a:path h="2667000" w="6604000">
                  <a:moveTo>
                    <a:pt x="43962" y="0"/>
                  </a:moveTo>
                  <a:lnTo>
                    <a:pt x="6560038" y="0"/>
                  </a:lnTo>
                  <a:cubicBezTo>
                    <a:pt x="6571698" y="0"/>
                    <a:pt x="6582880" y="4632"/>
                    <a:pt x="6591124" y="12876"/>
                  </a:cubicBezTo>
                  <a:cubicBezTo>
                    <a:pt x="6599368" y="21120"/>
                    <a:pt x="6604000" y="32302"/>
                    <a:pt x="6604000" y="43962"/>
                  </a:cubicBezTo>
                  <a:lnTo>
                    <a:pt x="6604000" y="2623039"/>
                  </a:lnTo>
                  <a:cubicBezTo>
                    <a:pt x="6604000" y="2634698"/>
                    <a:pt x="6599368" y="2645880"/>
                    <a:pt x="6591124" y="2654124"/>
                  </a:cubicBezTo>
                  <a:cubicBezTo>
                    <a:pt x="6582880" y="2662368"/>
                    <a:pt x="6571698" y="2667000"/>
                    <a:pt x="6560038" y="2667000"/>
                  </a:cubicBezTo>
                  <a:lnTo>
                    <a:pt x="43962" y="2667000"/>
                  </a:lnTo>
                  <a:cubicBezTo>
                    <a:pt x="32302" y="2667000"/>
                    <a:pt x="21120" y="2662368"/>
                    <a:pt x="12876" y="2654124"/>
                  </a:cubicBezTo>
                  <a:cubicBezTo>
                    <a:pt x="4632" y="2645880"/>
                    <a:pt x="0" y="2634698"/>
                    <a:pt x="0" y="2623039"/>
                  </a:cubicBezTo>
                  <a:lnTo>
                    <a:pt x="0" y="43962"/>
                  </a:lnTo>
                  <a:cubicBezTo>
                    <a:pt x="0" y="32302"/>
                    <a:pt x="4632" y="21120"/>
                    <a:pt x="12876" y="12876"/>
                  </a:cubicBezTo>
                  <a:cubicBezTo>
                    <a:pt x="21120" y="4632"/>
                    <a:pt x="32302" y="0"/>
                    <a:pt x="43962" y="0"/>
                  </a:cubicBezTo>
                  <a:close/>
                </a:path>
              </a:pathLst>
            </a:custGeom>
            <a:solidFill>
              <a:srgbClr val="FF8A4C"/>
            </a:solidFill>
            <a:ln cap="sq">
              <a:noFill/>
              <a:prstDash val="solid"/>
              <a:miter/>
            </a:ln>
          </p:spPr>
        </p:sp>
        <p:sp>
          <p:nvSpPr>
            <p:cNvPr name="TextBox 11" id="11"/>
            <p:cNvSpPr txBox="true"/>
            <p:nvPr/>
          </p:nvSpPr>
          <p:spPr>
            <a:xfrm>
              <a:off x="0" y="9525"/>
              <a:ext cx="6604000" cy="2657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NĂNG LƯỢNG</a:t>
              </a:r>
            </a:p>
          </p:txBody>
        </p:sp>
      </p:grpSp>
      <p:sp>
        <p:nvSpPr>
          <p:cNvPr name="TextBox 12" id="12"/>
          <p:cNvSpPr txBox="true"/>
          <p:nvPr/>
        </p:nvSpPr>
        <p:spPr>
          <a:xfrm rot="0">
            <a:off x="1333500" y="5448300"/>
            <a:ext cx="45720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AI học thói quen để dự đoán nhu cầu.</a:t>
            </a:r>
          </a:p>
        </p:txBody>
      </p:sp>
      <p:sp>
        <p:nvSpPr>
          <p:cNvPr name="TextBox 13" id="13"/>
          <p:cNvSpPr txBox="true"/>
          <p:nvPr/>
        </p:nvSpPr>
        <p:spPr>
          <a:xfrm rot="0">
            <a:off x="7048500" y="5448300"/>
            <a:ext cx="45720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Xử lý gần thiết bị: nhanh và riêng tư hơn.</a:t>
            </a:r>
          </a:p>
        </p:txBody>
      </p:sp>
      <p:sp>
        <p:nvSpPr>
          <p:cNvPr name="TextBox 14" id="14"/>
          <p:cNvSpPr txBox="true"/>
          <p:nvPr/>
        </p:nvSpPr>
        <p:spPr>
          <a:xfrm rot="0">
            <a:off x="12763500" y="5448300"/>
            <a:ext cx="45720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Tối ưu điện năng, giảm phát thải vận hành.</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grpSp>
        <p:nvGrpSpPr>
          <p:cNvPr name="Group 2" id="2"/>
          <p:cNvGrpSpPr/>
          <p:nvPr/>
        </p:nvGrpSpPr>
        <p:grpSpPr>
          <a:xfrm rot="0">
            <a:off x="8905875" y="2571750"/>
            <a:ext cx="38100" cy="5334000"/>
            <a:chOff x="0" y="0"/>
            <a:chExt cx="50800" cy="7112000"/>
          </a:xfrm>
        </p:grpSpPr>
        <p:sp>
          <p:nvSpPr>
            <p:cNvPr name="Freeform 3" id="3"/>
            <p:cNvSpPr/>
            <p:nvPr/>
          </p:nvSpPr>
          <p:spPr>
            <a:xfrm flipH="false" flipV="false" rot="0">
              <a:off x="0" y="0"/>
              <a:ext cx="50800" cy="7112000"/>
            </a:xfrm>
            <a:custGeom>
              <a:avLst/>
              <a:gdLst/>
              <a:ahLst/>
              <a:cxnLst/>
              <a:rect r="r" b="b" t="t" l="l"/>
              <a:pathLst>
                <a:path h="7112000" w="50800">
                  <a:moveTo>
                    <a:pt x="0" y="0"/>
                  </a:moveTo>
                  <a:lnTo>
                    <a:pt x="50800" y="0"/>
                  </a:lnTo>
                  <a:lnTo>
                    <a:pt x="50800" y="7112000"/>
                  </a:lnTo>
                  <a:lnTo>
                    <a:pt x="0" y="7112000"/>
                  </a:lnTo>
                  <a:close/>
                </a:path>
              </a:pathLst>
            </a:custGeom>
            <a:solidFill>
              <a:srgbClr val="6B7684"/>
            </a:solidFill>
            <a:ln cap="sq">
              <a:noFill/>
              <a:prstDash val="solid"/>
              <a:miter/>
            </a:ln>
          </p:spPr>
        </p:sp>
        <p:sp>
          <p:nvSpPr>
            <p:cNvPr name="TextBox 4" id="4"/>
            <p:cNvSpPr txBox="true"/>
            <p:nvPr/>
          </p:nvSpPr>
          <p:spPr>
            <a:xfrm>
              <a:off x="0" y="-38100"/>
              <a:ext cx="50800" cy="7150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847725"/>
            <a:ext cx="12382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Giá trị đi cùng đánh đổi</a:t>
            </a:r>
          </a:p>
        </p:txBody>
      </p:sp>
      <p:grpSp>
        <p:nvGrpSpPr>
          <p:cNvPr name="Group 6" id="6"/>
          <p:cNvGrpSpPr/>
          <p:nvPr/>
        </p:nvGrpSpPr>
        <p:grpSpPr>
          <a:xfrm rot="0">
            <a:off x="1524000" y="2714625"/>
            <a:ext cx="5715000" cy="2714625"/>
            <a:chOff x="0" y="0"/>
            <a:chExt cx="7620000" cy="3619500"/>
          </a:xfrm>
        </p:grpSpPr>
        <p:sp>
          <p:nvSpPr>
            <p:cNvPr name="TextBox 7" id="7"/>
            <p:cNvSpPr txBox="true"/>
            <p:nvPr/>
          </p:nvSpPr>
          <p:spPr>
            <a:xfrm rot="0">
              <a:off x="0" y="-66675"/>
              <a:ext cx="7620000" cy="795655"/>
            </a:xfrm>
            <a:prstGeom prst="rect">
              <a:avLst/>
            </a:prstGeom>
          </p:spPr>
          <p:txBody>
            <a:bodyPr anchor="t" rtlCol="false" tIns="0" lIns="0" bIns="0" rIns="0">
              <a:spAutoFit/>
            </a:bodyPr>
            <a:lstStyle/>
            <a:p>
              <a:pPr algn="l">
                <a:lnSpc>
                  <a:spcPts val="5040"/>
                </a:lnSpc>
              </a:pPr>
              <a:r>
                <a:rPr lang="en-US" sz="3600" b="true">
                  <a:solidFill>
                    <a:srgbClr val="2D7FF9"/>
                  </a:solidFill>
                  <a:latin typeface="Barlow Condensed Bold"/>
                  <a:ea typeface="Barlow Condensed Bold"/>
                  <a:cs typeface="Barlow Condensed Bold"/>
                  <a:sym typeface="Barlow Condensed Bold"/>
                </a:rPr>
                <a:t>LỢI ÍCH</a:t>
              </a:r>
            </a:p>
          </p:txBody>
        </p:sp>
        <p:sp>
          <p:nvSpPr>
            <p:cNvPr name="TextBox 8" id="8"/>
            <p:cNvSpPr txBox="true"/>
            <p:nvPr/>
          </p:nvSpPr>
          <p:spPr>
            <a:xfrm rot="0">
              <a:off x="0" y="1200150"/>
              <a:ext cx="7620000" cy="2419350"/>
            </a:xfrm>
            <a:prstGeom prst="rect">
              <a:avLst/>
            </a:prstGeom>
          </p:spPr>
          <p:txBody>
            <a:bodyPr anchor="t" rtlCol="false" tIns="0" lIns="0" bIns="0" rIns="0">
              <a:spAutoFit/>
            </a:bodyPr>
            <a:lstStyle/>
            <a:p>
              <a:pPr algn="l">
                <a:lnSpc>
                  <a:spcPts val="4950"/>
                </a:lnSpc>
              </a:pPr>
              <a:r>
                <a:rPr lang="en-US" sz="3000">
                  <a:solidFill>
                    <a:srgbClr val="122033"/>
                  </a:solidFill>
                  <a:latin typeface="Be Vietnam"/>
                  <a:ea typeface="Be Vietnam"/>
                  <a:cs typeface="Be Vietnam"/>
                  <a:sym typeface="Be Vietnam"/>
                </a:rPr>
                <a:t>Tiện nghi</a:t>
              </a:r>
            </a:p>
            <a:p>
              <a:pPr algn="l">
                <a:lnSpc>
                  <a:spcPts val="4950"/>
                </a:lnSpc>
              </a:pPr>
              <a:r>
                <a:rPr lang="en-US" sz="3000">
                  <a:solidFill>
                    <a:srgbClr val="122033"/>
                  </a:solidFill>
                  <a:latin typeface="Be Vietnam"/>
                  <a:ea typeface="Be Vietnam"/>
                  <a:cs typeface="Be Vietnam"/>
                  <a:sym typeface="Be Vietnam"/>
                </a:rPr>
                <a:t>Tiết kiệm</a:t>
              </a:r>
            </a:p>
            <a:p>
              <a:pPr algn="l">
                <a:lnSpc>
                  <a:spcPts val="4950"/>
                </a:lnSpc>
              </a:pPr>
              <a:r>
                <a:rPr lang="en-US" sz="3000">
                  <a:solidFill>
                    <a:srgbClr val="122033"/>
                  </a:solidFill>
                  <a:latin typeface="Be Vietnam"/>
                  <a:ea typeface="Be Vietnam"/>
                  <a:cs typeface="Be Vietnam"/>
                  <a:sym typeface="Be Vietnam"/>
                </a:rPr>
                <a:t>An toàn</a:t>
              </a:r>
            </a:p>
          </p:txBody>
        </p:sp>
      </p:grpSp>
      <p:grpSp>
        <p:nvGrpSpPr>
          <p:cNvPr name="Group 9" id="9"/>
          <p:cNvGrpSpPr/>
          <p:nvPr/>
        </p:nvGrpSpPr>
        <p:grpSpPr>
          <a:xfrm rot="0">
            <a:off x="10477500" y="2714625"/>
            <a:ext cx="6191250" cy="2714625"/>
            <a:chOff x="0" y="0"/>
            <a:chExt cx="8255000" cy="3619500"/>
          </a:xfrm>
        </p:grpSpPr>
        <p:sp>
          <p:nvSpPr>
            <p:cNvPr name="TextBox 10" id="10"/>
            <p:cNvSpPr txBox="true"/>
            <p:nvPr/>
          </p:nvSpPr>
          <p:spPr>
            <a:xfrm rot="0">
              <a:off x="0" y="-66675"/>
              <a:ext cx="7620000" cy="795655"/>
            </a:xfrm>
            <a:prstGeom prst="rect">
              <a:avLst/>
            </a:prstGeom>
          </p:spPr>
          <p:txBody>
            <a:bodyPr anchor="t" rtlCol="false" tIns="0" lIns="0" bIns="0" rIns="0">
              <a:spAutoFit/>
            </a:bodyPr>
            <a:lstStyle/>
            <a:p>
              <a:pPr algn="l">
                <a:lnSpc>
                  <a:spcPts val="5040"/>
                </a:lnSpc>
              </a:pPr>
              <a:r>
                <a:rPr lang="en-US" sz="3600" b="true">
                  <a:solidFill>
                    <a:srgbClr val="FF8A4C"/>
                  </a:solidFill>
                  <a:latin typeface="Barlow Condensed Bold"/>
                  <a:ea typeface="Barlow Condensed Bold"/>
                  <a:cs typeface="Barlow Condensed Bold"/>
                  <a:sym typeface="Barlow Condensed Bold"/>
                </a:rPr>
                <a:t>HẠN CHẾ</a:t>
              </a:r>
            </a:p>
          </p:txBody>
        </p:sp>
        <p:sp>
          <p:nvSpPr>
            <p:cNvPr name="TextBox 11" id="11"/>
            <p:cNvSpPr txBox="true"/>
            <p:nvPr/>
          </p:nvSpPr>
          <p:spPr>
            <a:xfrm rot="0">
              <a:off x="0" y="1200150"/>
              <a:ext cx="8255000" cy="2419350"/>
            </a:xfrm>
            <a:prstGeom prst="rect">
              <a:avLst/>
            </a:prstGeom>
          </p:spPr>
          <p:txBody>
            <a:bodyPr anchor="t" rtlCol="false" tIns="0" lIns="0" bIns="0" rIns="0">
              <a:spAutoFit/>
            </a:bodyPr>
            <a:lstStyle/>
            <a:p>
              <a:pPr algn="l">
                <a:lnSpc>
                  <a:spcPts val="4950"/>
                </a:lnSpc>
              </a:pPr>
              <a:r>
                <a:rPr lang="en-US" sz="3000">
                  <a:solidFill>
                    <a:srgbClr val="122033"/>
                  </a:solidFill>
                  <a:latin typeface="Be Vietnam"/>
                  <a:ea typeface="Be Vietnam"/>
                  <a:cs typeface="Be Vietnam"/>
                  <a:sym typeface="Be Vietnam"/>
                </a:rPr>
                <a:t>Chi phí đầu tư</a:t>
              </a:r>
            </a:p>
            <a:p>
              <a:pPr algn="l">
                <a:lnSpc>
                  <a:spcPts val="4950"/>
                </a:lnSpc>
              </a:pPr>
              <a:r>
                <a:rPr lang="en-US" sz="3000">
                  <a:solidFill>
                    <a:srgbClr val="122033"/>
                  </a:solidFill>
                  <a:latin typeface="Be Vietnam"/>
                  <a:ea typeface="Be Vietnam"/>
                  <a:cs typeface="Be Vietnam"/>
                  <a:sym typeface="Be Vietnam"/>
                </a:rPr>
                <a:t>Độ phức tạp</a:t>
              </a:r>
            </a:p>
            <a:p>
              <a:pPr algn="l">
                <a:lnSpc>
                  <a:spcPts val="4950"/>
                </a:lnSpc>
              </a:pPr>
              <a:r>
                <a:rPr lang="en-US" sz="3000">
                  <a:solidFill>
                    <a:srgbClr val="122033"/>
                  </a:solidFill>
                  <a:latin typeface="Be Vietnam"/>
                  <a:ea typeface="Be Vietnam"/>
                  <a:cs typeface="Be Vietnam"/>
                  <a:sym typeface="Be Vietnam"/>
                </a:rPr>
                <a:t>Khả năng tương thích</a:t>
              </a:r>
            </a:p>
          </p:txBody>
        </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0B1728"/>
        </a:solidFill>
      </p:bgPr>
    </p:bg>
    <p:spTree>
      <p:nvGrpSpPr>
        <p:cNvPr id="1" name=""/>
        <p:cNvGrpSpPr/>
        <p:nvPr/>
      </p:nvGrpSpPr>
      <p:grpSpPr>
        <a:xfrm>
          <a:off x="0" y="0"/>
          <a:ext cx="0" cy="0"/>
          <a:chOff x="0" y="0"/>
          <a:chExt cx="0" cy="0"/>
        </a:xfrm>
      </p:grpSpPr>
      <p:grpSp>
        <p:nvGrpSpPr>
          <p:cNvPr name="Group 2" id="2"/>
          <p:cNvGrpSpPr/>
          <p:nvPr/>
        </p:nvGrpSpPr>
        <p:grpSpPr>
          <a:xfrm rot="0">
            <a:off x="7429500" y="4191000"/>
            <a:ext cx="3429000" cy="2857500"/>
            <a:chOff x="0" y="0"/>
            <a:chExt cx="4572000" cy="3810000"/>
          </a:xfrm>
        </p:grpSpPr>
        <p:sp>
          <p:nvSpPr>
            <p:cNvPr name="Freeform 3" id="3"/>
            <p:cNvSpPr/>
            <p:nvPr/>
          </p:nvSpPr>
          <p:spPr>
            <a:xfrm flipH="false" flipV="false" rot="0">
              <a:off x="0" y="0"/>
              <a:ext cx="4572000" cy="3810000"/>
            </a:xfrm>
            <a:custGeom>
              <a:avLst/>
              <a:gdLst/>
              <a:ahLst/>
              <a:cxnLst/>
              <a:rect r="r" b="b" t="t" l="l"/>
              <a:pathLst>
                <a:path h="3810000" w="4572000">
                  <a:moveTo>
                    <a:pt x="63500" y="0"/>
                  </a:moveTo>
                  <a:lnTo>
                    <a:pt x="4508500" y="0"/>
                  </a:lnTo>
                  <a:cubicBezTo>
                    <a:pt x="4543570" y="0"/>
                    <a:pt x="4572000" y="28430"/>
                    <a:pt x="4572000" y="63500"/>
                  </a:cubicBezTo>
                  <a:lnTo>
                    <a:pt x="4572000" y="3746500"/>
                  </a:lnTo>
                  <a:cubicBezTo>
                    <a:pt x="4572000" y="3781570"/>
                    <a:pt x="4543570" y="3810000"/>
                    <a:pt x="4508500" y="3810000"/>
                  </a:cubicBezTo>
                  <a:lnTo>
                    <a:pt x="63500" y="3810000"/>
                  </a:lnTo>
                  <a:cubicBezTo>
                    <a:pt x="28430" y="3810000"/>
                    <a:pt x="0" y="3781570"/>
                    <a:pt x="0" y="3746500"/>
                  </a:cubicBezTo>
                  <a:lnTo>
                    <a:pt x="0" y="63500"/>
                  </a:lnTo>
                  <a:cubicBezTo>
                    <a:pt x="0" y="28430"/>
                    <a:pt x="28430" y="0"/>
                    <a:pt x="63500" y="0"/>
                  </a:cubicBezTo>
                  <a:close/>
                </a:path>
              </a:pathLst>
            </a:custGeom>
            <a:solidFill>
              <a:srgbClr val="2D7FF9"/>
            </a:solidFill>
            <a:ln cap="sq">
              <a:noFill/>
              <a:prstDash val="solid"/>
              <a:miter/>
            </a:ln>
          </p:spPr>
        </p:sp>
        <p:sp>
          <p:nvSpPr>
            <p:cNvPr name="TextBox 4" id="4"/>
            <p:cNvSpPr txBox="true"/>
            <p:nvPr/>
          </p:nvSpPr>
          <p:spPr>
            <a:xfrm>
              <a:off x="0" y="9525"/>
              <a:ext cx="4572000" cy="3800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BẢO VỆ</a:t>
              </a:r>
            </a:p>
            <a:p>
              <a:pPr algn="ctr">
                <a:lnSpc>
                  <a:spcPts val="2070"/>
                </a:lnSpc>
              </a:pPr>
              <a:r>
                <a:rPr lang="en-US" sz="1800" b="true">
                  <a:solidFill>
                    <a:srgbClr val="FFFFFF"/>
                  </a:solidFill>
                  <a:latin typeface="Be Vietnam Ultra-Bold"/>
                  <a:ea typeface="Be Vietnam Ultra-Bold"/>
                  <a:cs typeface="Be Vietnam Ultra-Bold"/>
                  <a:sym typeface="Be Vietnam Ultra-Bold"/>
                </a:rPr>
                <a:t>NHIỀU LỚP</a:t>
              </a:r>
            </a:p>
          </p:txBody>
        </p:sp>
      </p:grpSp>
      <p:sp>
        <p:nvSpPr>
          <p:cNvPr name="TextBox 5" id="5"/>
          <p:cNvSpPr txBox="true"/>
          <p:nvPr/>
        </p:nvSpPr>
        <p:spPr>
          <a:xfrm rot="0">
            <a:off x="1047750" y="876300"/>
            <a:ext cx="14763750" cy="1018032"/>
          </a:xfrm>
          <a:prstGeom prst="rect">
            <a:avLst/>
          </a:prstGeom>
        </p:spPr>
        <p:txBody>
          <a:bodyPr anchor="t" rtlCol="false" tIns="0" lIns="0" bIns="0" rIns="0">
            <a:spAutoFit/>
          </a:bodyPr>
          <a:lstStyle/>
          <a:p>
            <a:pPr algn="l">
              <a:lnSpc>
                <a:spcPts val="7644"/>
              </a:lnSpc>
            </a:pPr>
            <a:r>
              <a:rPr lang="en-US" sz="7800" b="true">
                <a:solidFill>
                  <a:srgbClr val="FFFFFF"/>
                </a:solidFill>
                <a:latin typeface="Barlow Condensed Bold"/>
                <a:ea typeface="Barlow Condensed Bold"/>
                <a:cs typeface="Barlow Condensed Bold"/>
                <a:sym typeface="Barlow Condensed Bold"/>
              </a:rPr>
              <a:t>Bảo mật phải là một phần của kiến trúc</a:t>
            </a:r>
          </a:p>
        </p:txBody>
      </p:sp>
      <p:grpSp>
        <p:nvGrpSpPr>
          <p:cNvPr name="Group 6" id="6"/>
          <p:cNvGrpSpPr/>
          <p:nvPr/>
        </p:nvGrpSpPr>
        <p:grpSpPr>
          <a:xfrm rot="0">
            <a:off x="1428750" y="4191000"/>
            <a:ext cx="4286250" cy="2032635"/>
            <a:chOff x="0" y="0"/>
            <a:chExt cx="5715000" cy="2710180"/>
          </a:xfrm>
        </p:grpSpPr>
        <p:sp>
          <p:nvSpPr>
            <p:cNvPr name="TextBox 7" id="7"/>
            <p:cNvSpPr txBox="true"/>
            <p:nvPr/>
          </p:nvSpPr>
          <p:spPr>
            <a:xfrm rot="0">
              <a:off x="0" y="-38100"/>
              <a:ext cx="3810000" cy="396240"/>
            </a:xfrm>
            <a:prstGeom prst="rect">
              <a:avLst/>
            </a:prstGeom>
          </p:spPr>
          <p:txBody>
            <a:bodyPr anchor="t" rtlCol="false" tIns="0" lIns="0" bIns="0" rIns="0">
              <a:spAutoFit/>
            </a:bodyPr>
            <a:lstStyle/>
            <a:p>
              <a:pPr algn="l">
                <a:lnSpc>
                  <a:spcPts val="2520"/>
                </a:lnSpc>
              </a:pPr>
              <a:r>
                <a:rPr lang="en-US" sz="1800" b="true">
                  <a:solidFill>
                    <a:srgbClr val="EF5B5B"/>
                  </a:solidFill>
                  <a:latin typeface="Be Vietnam Ultra-Bold"/>
                  <a:ea typeface="Be Vietnam Ultra-Bold"/>
                  <a:cs typeface="Be Vietnam Ultra-Bold"/>
                  <a:sym typeface="Be Vietnam Ultra-Bold"/>
                </a:rPr>
                <a:t>RỦI RO</a:t>
              </a:r>
            </a:p>
          </p:txBody>
        </p:sp>
        <p:sp>
          <p:nvSpPr>
            <p:cNvPr name="TextBox 8" id="8"/>
            <p:cNvSpPr txBox="true"/>
            <p:nvPr/>
          </p:nvSpPr>
          <p:spPr>
            <a:xfrm rot="0">
              <a:off x="0" y="730250"/>
              <a:ext cx="5715000" cy="1979930"/>
            </a:xfrm>
            <a:prstGeom prst="rect">
              <a:avLst/>
            </a:prstGeom>
          </p:spPr>
          <p:txBody>
            <a:bodyPr anchor="t" rtlCol="false" tIns="0" lIns="0" bIns="0" rIns="0">
              <a:spAutoFit/>
            </a:bodyPr>
            <a:lstStyle/>
            <a:p>
              <a:pPr algn="l">
                <a:lnSpc>
                  <a:spcPts val="4080"/>
                </a:lnSpc>
              </a:pPr>
              <a:r>
                <a:rPr lang="en-US" sz="2550">
                  <a:solidFill>
                    <a:srgbClr val="FFFFFF"/>
                  </a:solidFill>
                  <a:latin typeface="Be Vietnam"/>
                  <a:ea typeface="Be Vietnam"/>
                  <a:cs typeface="Be Vietnam"/>
                  <a:sym typeface="Be Vietnam"/>
                </a:rPr>
                <a:t>Xâm nhập</a:t>
              </a:r>
            </a:p>
            <a:p>
              <a:pPr algn="l">
                <a:lnSpc>
                  <a:spcPts val="4080"/>
                </a:lnSpc>
              </a:pPr>
              <a:r>
                <a:rPr lang="en-US" sz="2550">
                  <a:solidFill>
                    <a:srgbClr val="FFFFFF"/>
                  </a:solidFill>
                  <a:latin typeface="Be Vietnam"/>
                  <a:ea typeface="Be Vietnam"/>
                  <a:cs typeface="Be Vietnam"/>
                  <a:sym typeface="Be Vietnam"/>
                </a:rPr>
                <a:t>Mất dữ liệu</a:t>
              </a:r>
            </a:p>
            <a:p>
              <a:pPr algn="l">
                <a:lnSpc>
                  <a:spcPts val="4080"/>
                </a:lnSpc>
              </a:pPr>
              <a:r>
                <a:rPr lang="en-US" sz="2550">
                  <a:solidFill>
                    <a:srgbClr val="FFFFFF"/>
                  </a:solidFill>
                  <a:latin typeface="Be Vietnam"/>
                  <a:ea typeface="Be Vietnam"/>
                  <a:cs typeface="Be Vietnam"/>
                  <a:sym typeface="Be Vietnam"/>
                </a:rPr>
                <a:t>Tấn công mạng</a:t>
              </a:r>
            </a:p>
          </p:txBody>
        </p:sp>
      </p:grpSp>
      <p:grpSp>
        <p:nvGrpSpPr>
          <p:cNvPr name="Group 9" id="9"/>
          <p:cNvGrpSpPr/>
          <p:nvPr/>
        </p:nvGrpSpPr>
        <p:grpSpPr>
          <a:xfrm rot="0">
            <a:off x="11334750" y="4191000"/>
            <a:ext cx="5238750" cy="2032635"/>
            <a:chOff x="0" y="0"/>
            <a:chExt cx="6985000" cy="2710180"/>
          </a:xfrm>
        </p:grpSpPr>
        <p:sp>
          <p:nvSpPr>
            <p:cNvPr name="TextBox 10" id="10"/>
            <p:cNvSpPr txBox="true"/>
            <p:nvPr/>
          </p:nvSpPr>
          <p:spPr>
            <a:xfrm rot="0">
              <a:off x="0" y="-38100"/>
              <a:ext cx="3810000" cy="396240"/>
            </a:xfrm>
            <a:prstGeom prst="rect">
              <a:avLst/>
            </a:prstGeom>
          </p:spPr>
          <p:txBody>
            <a:bodyPr anchor="t" rtlCol="false" tIns="0" lIns="0" bIns="0" rIns="0">
              <a:spAutoFit/>
            </a:bodyPr>
            <a:lstStyle/>
            <a:p>
              <a:pPr algn="l">
                <a:lnSpc>
                  <a:spcPts val="2520"/>
                </a:lnSpc>
              </a:pPr>
              <a:r>
                <a:rPr lang="en-US" sz="1800" b="true">
                  <a:solidFill>
                    <a:srgbClr val="46D9C5"/>
                  </a:solidFill>
                  <a:latin typeface="Be Vietnam Ultra-Bold"/>
                  <a:ea typeface="Be Vietnam Ultra-Bold"/>
                  <a:cs typeface="Be Vietnam Ultra-Bold"/>
                  <a:sym typeface="Be Vietnam Ultra-Bold"/>
                </a:rPr>
                <a:t>PHÒNG VỆ</a:t>
              </a:r>
            </a:p>
          </p:txBody>
        </p:sp>
        <p:sp>
          <p:nvSpPr>
            <p:cNvPr name="TextBox 11" id="11"/>
            <p:cNvSpPr txBox="true"/>
            <p:nvPr/>
          </p:nvSpPr>
          <p:spPr>
            <a:xfrm rot="0">
              <a:off x="0" y="730250"/>
              <a:ext cx="6985000" cy="1979930"/>
            </a:xfrm>
            <a:prstGeom prst="rect">
              <a:avLst/>
            </a:prstGeom>
          </p:spPr>
          <p:txBody>
            <a:bodyPr anchor="t" rtlCol="false" tIns="0" lIns="0" bIns="0" rIns="0">
              <a:spAutoFit/>
            </a:bodyPr>
            <a:lstStyle/>
            <a:p>
              <a:pPr algn="l">
                <a:lnSpc>
                  <a:spcPts val="4080"/>
                </a:lnSpc>
              </a:pPr>
              <a:r>
                <a:rPr lang="en-US" sz="2550">
                  <a:solidFill>
                    <a:srgbClr val="FFFFFF"/>
                  </a:solidFill>
                  <a:latin typeface="Be Vietnam"/>
                  <a:ea typeface="Be Vietnam"/>
                  <a:cs typeface="Be Vietnam"/>
                  <a:sym typeface="Be Vietnam"/>
                </a:rPr>
                <a:t>Mã hóa</a:t>
              </a:r>
            </a:p>
            <a:p>
              <a:pPr algn="l">
                <a:lnSpc>
                  <a:spcPts val="4080"/>
                </a:lnSpc>
              </a:pPr>
              <a:r>
                <a:rPr lang="en-US" sz="2550">
                  <a:solidFill>
                    <a:srgbClr val="FFFFFF"/>
                  </a:solidFill>
                  <a:latin typeface="Be Vietnam"/>
                  <a:ea typeface="Be Vietnam"/>
                  <a:cs typeface="Be Vietnam"/>
                  <a:sym typeface="Be Vietnam"/>
                </a:rPr>
                <a:t>Cập nhật phần mềm</a:t>
              </a:r>
            </a:p>
            <a:p>
              <a:pPr algn="l">
                <a:lnSpc>
                  <a:spcPts val="4080"/>
                </a:lnSpc>
              </a:pPr>
              <a:r>
                <a:rPr lang="en-US" sz="2550">
                  <a:solidFill>
                    <a:srgbClr val="FFFFFF"/>
                  </a:solidFill>
                  <a:latin typeface="Be Vietnam"/>
                  <a:ea typeface="Be Vietnam"/>
                  <a:cs typeface="Be Vietnam"/>
                  <a:sym typeface="Be Vietnam"/>
                </a:rPr>
                <a:t>Kiểm soát truy cập</a:t>
              </a:r>
            </a:p>
          </p:txBody>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sp>
        <p:nvSpPr>
          <p:cNvPr name="TextBox 2" id="2"/>
          <p:cNvSpPr txBox="true"/>
          <p:nvPr/>
        </p:nvSpPr>
        <p:spPr>
          <a:xfrm rot="0">
            <a:off x="1047750" y="800100"/>
            <a:ext cx="152400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Tình huống: camera bị truy cập trái phép</a:t>
            </a:r>
          </a:p>
        </p:txBody>
      </p:sp>
      <p:sp>
        <p:nvSpPr>
          <p:cNvPr name="TextBox 3" id="3"/>
          <p:cNvSpPr txBox="true"/>
          <p:nvPr/>
        </p:nvSpPr>
        <p:spPr>
          <a:xfrm rot="0">
            <a:off x="1047750" y="8296275"/>
            <a:ext cx="10477500" cy="356235"/>
          </a:xfrm>
          <a:prstGeom prst="rect">
            <a:avLst/>
          </a:prstGeom>
        </p:spPr>
        <p:txBody>
          <a:bodyPr anchor="t" rtlCol="false" tIns="0" lIns="0" bIns="0" rIns="0">
            <a:spAutoFit/>
          </a:bodyPr>
          <a:lstStyle/>
          <a:p>
            <a:pPr algn="l">
              <a:lnSpc>
                <a:spcPts val="2940"/>
              </a:lnSpc>
            </a:pPr>
            <a:r>
              <a:rPr lang="en-US" sz="2100" b="true">
                <a:solidFill>
                  <a:srgbClr val="2D7FF9"/>
                </a:solidFill>
                <a:latin typeface="Be Vietnam Ultra-Bold"/>
                <a:ea typeface="Be Vietnam Ultra-Bold"/>
                <a:cs typeface="Be Vietnam Ultra-Bold"/>
                <a:sym typeface="Be Vietnam Ultra-Bold"/>
              </a:rPr>
              <a:t>Bài học: phát hiện sớm + cô lập nhanh + xác thực mạnh.</a:t>
            </a:r>
          </a:p>
        </p:txBody>
      </p:sp>
      <p:grpSp>
        <p:nvGrpSpPr>
          <p:cNvPr name="Group 4" id="4"/>
          <p:cNvGrpSpPr/>
          <p:nvPr/>
        </p:nvGrpSpPr>
        <p:grpSpPr>
          <a:xfrm rot="0">
            <a:off x="1143000" y="2857500"/>
            <a:ext cx="4762500" cy="1428750"/>
            <a:chOff x="0" y="0"/>
            <a:chExt cx="6350000" cy="1905000"/>
          </a:xfrm>
        </p:grpSpPr>
        <p:sp>
          <p:nvSpPr>
            <p:cNvPr name="Freeform 5" id="5"/>
            <p:cNvSpPr/>
            <p:nvPr/>
          </p:nvSpPr>
          <p:spPr>
            <a:xfrm flipH="false" flipV="false" rot="0">
              <a:off x="0" y="0"/>
              <a:ext cx="6350000" cy="1905000"/>
            </a:xfrm>
            <a:custGeom>
              <a:avLst/>
              <a:gdLst/>
              <a:ahLst/>
              <a:cxnLst/>
              <a:rect r="r" b="b" t="t" l="l"/>
              <a:pathLst>
                <a:path h="1905000" w="6350000">
                  <a:moveTo>
                    <a:pt x="45720" y="0"/>
                  </a:moveTo>
                  <a:lnTo>
                    <a:pt x="6304280" y="0"/>
                  </a:lnTo>
                  <a:cubicBezTo>
                    <a:pt x="6316406" y="0"/>
                    <a:pt x="6328035" y="4817"/>
                    <a:pt x="6336609" y="13391"/>
                  </a:cubicBezTo>
                  <a:cubicBezTo>
                    <a:pt x="6345183" y="21965"/>
                    <a:pt x="6350000" y="33594"/>
                    <a:pt x="6350000" y="45720"/>
                  </a:cubicBezTo>
                  <a:lnTo>
                    <a:pt x="6350000" y="1859280"/>
                  </a:lnTo>
                  <a:cubicBezTo>
                    <a:pt x="6350000" y="1884531"/>
                    <a:pt x="6329530" y="1905000"/>
                    <a:pt x="6304280" y="1905000"/>
                  </a:cubicBezTo>
                  <a:lnTo>
                    <a:pt x="45720" y="1905000"/>
                  </a:lnTo>
                  <a:cubicBezTo>
                    <a:pt x="20470" y="1905000"/>
                    <a:pt x="0" y="1884531"/>
                    <a:pt x="0" y="1859280"/>
                  </a:cubicBezTo>
                  <a:lnTo>
                    <a:pt x="0" y="45720"/>
                  </a:lnTo>
                  <a:cubicBezTo>
                    <a:pt x="0" y="20470"/>
                    <a:pt x="20470" y="0"/>
                    <a:pt x="45720" y="0"/>
                  </a:cubicBezTo>
                  <a:close/>
                </a:path>
              </a:pathLst>
            </a:custGeom>
            <a:solidFill>
              <a:srgbClr val="EF5B5B"/>
            </a:solidFill>
            <a:ln cap="sq">
              <a:noFill/>
              <a:prstDash val="solid"/>
              <a:miter/>
            </a:ln>
          </p:spPr>
        </p:sp>
        <p:sp>
          <p:nvSpPr>
            <p:cNvPr name="TextBox 6" id="6"/>
            <p:cNvSpPr txBox="true"/>
            <p:nvPr/>
          </p:nvSpPr>
          <p:spPr>
            <a:xfrm>
              <a:off x="0" y="9525"/>
              <a:ext cx="6350000" cy="1895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PHÁT HIỆN</a:t>
              </a:r>
            </a:p>
          </p:txBody>
        </p:sp>
      </p:grpSp>
      <p:sp>
        <p:nvSpPr>
          <p:cNvPr name="AutoShape 7" id="7"/>
          <p:cNvSpPr/>
          <p:nvPr/>
        </p:nvSpPr>
        <p:spPr>
          <a:xfrm>
            <a:off x="6000750" y="3571875"/>
            <a:ext cx="714375" cy="0"/>
          </a:xfrm>
          <a:prstGeom prst="line">
            <a:avLst/>
          </a:prstGeom>
          <a:ln cap="flat" w="47625">
            <a:solidFill>
              <a:srgbClr val="122033"/>
            </a:solidFill>
            <a:prstDash val="solid"/>
            <a:headEnd type="none" len="sm" w="sm"/>
            <a:tailEnd type="none" len="sm" w="sm"/>
          </a:ln>
        </p:spPr>
      </p:sp>
      <p:grpSp>
        <p:nvGrpSpPr>
          <p:cNvPr name="Group 8" id="8"/>
          <p:cNvGrpSpPr/>
          <p:nvPr/>
        </p:nvGrpSpPr>
        <p:grpSpPr>
          <a:xfrm rot="0">
            <a:off x="6858000" y="2857500"/>
            <a:ext cx="4762500" cy="1428750"/>
            <a:chOff x="0" y="0"/>
            <a:chExt cx="6350000" cy="1905000"/>
          </a:xfrm>
        </p:grpSpPr>
        <p:sp>
          <p:nvSpPr>
            <p:cNvPr name="Freeform 9" id="9"/>
            <p:cNvSpPr/>
            <p:nvPr/>
          </p:nvSpPr>
          <p:spPr>
            <a:xfrm flipH="false" flipV="false" rot="0">
              <a:off x="0" y="0"/>
              <a:ext cx="6350000" cy="1905000"/>
            </a:xfrm>
            <a:custGeom>
              <a:avLst/>
              <a:gdLst/>
              <a:ahLst/>
              <a:cxnLst/>
              <a:rect r="r" b="b" t="t" l="l"/>
              <a:pathLst>
                <a:path h="1905000" w="6350000">
                  <a:moveTo>
                    <a:pt x="45720" y="0"/>
                  </a:moveTo>
                  <a:lnTo>
                    <a:pt x="6304280" y="0"/>
                  </a:lnTo>
                  <a:cubicBezTo>
                    <a:pt x="6316406" y="0"/>
                    <a:pt x="6328035" y="4817"/>
                    <a:pt x="6336609" y="13391"/>
                  </a:cubicBezTo>
                  <a:cubicBezTo>
                    <a:pt x="6345183" y="21965"/>
                    <a:pt x="6350000" y="33594"/>
                    <a:pt x="6350000" y="45720"/>
                  </a:cubicBezTo>
                  <a:lnTo>
                    <a:pt x="6350000" y="1859280"/>
                  </a:lnTo>
                  <a:cubicBezTo>
                    <a:pt x="6350000" y="1884531"/>
                    <a:pt x="6329530" y="1905000"/>
                    <a:pt x="6304280" y="1905000"/>
                  </a:cubicBezTo>
                  <a:lnTo>
                    <a:pt x="45720" y="1905000"/>
                  </a:lnTo>
                  <a:cubicBezTo>
                    <a:pt x="20470" y="1905000"/>
                    <a:pt x="0" y="1884531"/>
                    <a:pt x="0" y="1859280"/>
                  </a:cubicBezTo>
                  <a:lnTo>
                    <a:pt x="0" y="45720"/>
                  </a:lnTo>
                  <a:cubicBezTo>
                    <a:pt x="0" y="20470"/>
                    <a:pt x="20470" y="0"/>
                    <a:pt x="45720" y="0"/>
                  </a:cubicBezTo>
                  <a:close/>
                </a:path>
              </a:pathLst>
            </a:custGeom>
            <a:solidFill>
              <a:srgbClr val="FF8A4C"/>
            </a:solidFill>
            <a:ln cap="sq">
              <a:noFill/>
              <a:prstDash val="solid"/>
              <a:miter/>
            </a:ln>
          </p:spPr>
        </p:sp>
        <p:sp>
          <p:nvSpPr>
            <p:cNvPr name="TextBox 10" id="10"/>
            <p:cNvSpPr txBox="true"/>
            <p:nvPr/>
          </p:nvSpPr>
          <p:spPr>
            <a:xfrm>
              <a:off x="0" y="9525"/>
              <a:ext cx="6350000" cy="1895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CÔ LẬP</a:t>
              </a:r>
            </a:p>
          </p:txBody>
        </p:sp>
      </p:grpSp>
      <p:sp>
        <p:nvSpPr>
          <p:cNvPr name="AutoShape 11" id="11"/>
          <p:cNvSpPr/>
          <p:nvPr/>
        </p:nvSpPr>
        <p:spPr>
          <a:xfrm>
            <a:off x="11715750" y="3571875"/>
            <a:ext cx="714375" cy="0"/>
          </a:xfrm>
          <a:prstGeom prst="line">
            <a:avLst/>
          </a:prstGeom>
          <a:ln cap="flat" w="47625">
            <a:solidFill>
              <a:srgbClr val="122033"/>
            </a:solidFill>
            <a:prstDash val="solid"/>
            <a:headEnd type="none" len="sm" w="sm"/>
            <a:tailEnd type="none" len="sm" w="sm"/>
          </a:ln>
        </p:spPr>
      </p:sp>
      <p:grpSp>
        <p:nvGrpSpPr>
          <p:cNvPr name="Group 12" id="12"/>
          <p:cNvGrpSpPr/>
          <p:nvPr/>
        </p:nvGrpSpPr>
        <p:grpSpPr>
          <a:xfrm rot="0">
            <a:off x="12573000" y="2857500"/>
            <a:ext cx="4762500" cy="1428750"/>
            <a:chOff x="0" y="0"/>
            <a:chExt cx="6350000" cy="1905000"/>
          </a:xfrm>
        </p:grpSpPr>
        <p:sp>
          <p:nvSpPr>
            <p:cNvPr name="Freeform 13" id="13"/>
            <p:cNvSpPr/>
            <p:nvPr/>
          </p:nvSpPr>
          <p:spPr>
            <a:xfrm flipH="false" flipV="false" rot="0">
              <a:off x="0" y="0"/>
              <a:ext cx="6350000" cy="1905000"/>
            </a:xfrm>
            <a:custGeom>
              <a:avLst/>
              <a:gdLst/>
              <a:ahLst/>
              <a:cxnLst/>
              <a:rect r="r" b="b" t="t" l="l"/>
              <a:pathLst>
                <a:path h="1905000" w="6350000">
                  <a:moveTo>
                    <a:pt x="45720" y="0"/>
                  </a:moveTo>
                  <a:lnTo>
                    <a:pt x="6304280" y="0"/>
                  </a:lnTo>
                  <a:cubicBezTo>
                    <a:pt x="6316406" y="0"/>
                    <a:pt x="6328035" y="4817"/>
                    <a:pt x="6336609" y="13391"/>
                  </a:cubicBezTo>
                  <a:cubicBezTo>
                    <a:pt x="6345183" y="21965"/>
                    <a:pt x="6350000" y="33594"/>
                    <a:pt x="6350000" y="45720"/>
                  </a:cubicBezTo>
                  <a:lnTo>
                    <a:pt x="6350000" y="1859280"/>
                  </a:lnTo>
                  <a:cubicBezTo>
                    <a:pt x="6350000" y="1884531"/>
                    <a:pt x="6329530" y="1905000"/>
                    <a:pt x="6304280" y="1905000"/>
                  </a:cubicBezTo>
                  <a:lnTo>
                    <a:pt x="45720" y="1905000"/>
                  </a:lnTo>
                  <a:cubicBezTo>
                    <a:pt x="20470" y="1905000"/>
                    <a:pt x="0" y="1884531"/>
                    <a:pt x="0" y="1859280"/>
                  </a:cubicBezTo>
                  <a:lnTo>
                    <a:pt x="0" y="45720"/>
                  </a:lnTo>
                  <a:cubicBezTo>
                    <a:pt x="0" y="20470"/>
                    <a:pt x="20470" y="0"/>
                    <a:pt x="45720" y="0"/>
                  </a:cubicBezTo>
                  <a:close/>
                </a:path>
              </a:pathLst>
            </a:custGeom>
            <a:solidFill>
              <a:srgbClr val="46D9C5"/>
            </a:solidFill>
            <a:ln cap="sq">
              <a:noFill/>
              <a:prstDash val="solid"/>
              <a:miter/>
            </a:ln>
          </p:spPr>
        </p:sp>
        <p:sp>
          <p:nvSpPr>
            <p:cNvPr name="TextBox 14" id="14"/>
            <p:cNvSpPr txBox="true"/>
            <p:nvPr/>
          </p:nvSpPr>
          <p:spPr>
            <a:xfrm>
              <a:off x="0" y="9525"/>
              <a:ext cx="6350000" cy="1895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KHÔI PHỤC</a:t>
              </a:r>
            </a:p>
          </p:txBody>
        </p:sp>
      </p:grpSp>
      <p:sp>
        <p:nvSpPr>
          <p:cNvPr name="TextBox 15" id="15"/>
          <p:cNvSpPr txBox="true"/>
          <p:nvPr/>
        </p:nvSpPr>
        <p:spPr>
          <a:xfrm rot="0">
            <a:off x="1333500" y="4733925"/>
            <a:ext cx="43815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Đăng nhập lạ và lưu lượng bất thường</a:t>
            </a:r>
          </a:p>
        </p:txBody>
      </p:sp>
      <p:sp>
        <p:nvSpPr>
          <p:cNvPr name="TextBox 16" id="16"/>
          <p:cNvSpPr txBox="true"/>
          <p:nvPr/>
        </p:nvSpPr>
        <p:spPr>
          <a:xfrm rot="0">
            <a:off x="7048500" y="4733925"/>
            <a:ext cx="43815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Ngắt camera khỏi mạng, đổi mật khẩu</a:t>
            </a:r>
          </a:p>
        </p:txBody>
      </p:sp>
      <p:sp>
        <p:nvSpPr>
          <p:cNvPr name="TextBox 17" id="17"/>
          <p:cNvSpPr txBox="true"/>
          <p:nvPr/>
        </p:nvSpPr>
        <p:spPr>
          <a:xfrm rot="0">
            <a:off x="12763500" y="4733925"/>
            <a:ext cx="4381500" cy="693420"/>
          </a:xfrm>
          <a:prstGeom prst="rect">
            <a:avLst/>
          </a:prstGeom>
        </p:spPr>
        <p:txBody>
          <a:bodyPr anchor="t" rtlCol="false" tIns="0" lIns="0" bIns="0" rIns="0">
            <a:spAutoFit/>
          </a:bodyPr>
          <a:lstStyle/>
          <a:p>
            <a:pPr algn="ctr">
              <a:lnSpc>
                <a:spcPts val="2835"/>
              </a:lnSpc>
            </a:pPr>
            <a:r>
              <a:rPr lang="en-US" sz="2100">
                <a:solidFill>
                  <a:srgbClr val="122033"/>
                </a:solidFill>
                <a:latin typeface="Be Vietnam"/>
                <a:ea typeface="Be Vietnam"/>
                <a:cs typeface="Be Vietnam"/>
                <a:sym typeface="Be Vietnam"/>
              </a:rPr>
              <a:t>Cập nhật firmware, bật xác thực hai lớp</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4F1E8"/>
        </a:solidFill>
      </p:bgPr>
    </p:bg>
    <p:spTree>
      <p:nvGrpSpPr>
        <p:cNvPr id="1" name=""/>
        <p:cNvGrpSpPr/>
        <p:nvPr/>
      </p:nvGrpSpPr>
      <p:grpSpPr>
        <a:xfrm>
          <a:off x="0" y="0"/>
          <a:ext cx="0" cy="0"/>
          <a:chOff x="0" y="0"/>
          <a:chExt cx="0" cy="0"/>
        </a:xfrm>
      </p:grpSpPr>
      <p:sp>
        <p:nvSpPr>
          <p:cNvPr name="TextBox 2" id="2"/>
          <p:cNvSpPr txBox="true"/>
          <p:nvPr/>
        </p:nvSpPr>
        <p:spPr>
          <a:xfrm rot="0">
            <a:off x="1047750" y="704850"/>
            <a:ext cx="14287500" cy="710565"/>
          </a:xfrm>
          <a:prstGeom prst="rect">
            <a:avLst/>
          </a:prstGeom>
        </p:spPr>
        <p:txBody>
          <a:bodyPr anchor="t" rtlCol="false" tIns="0" lIns="0" bIns="0" rIns="0">
            <a:spAutoFit/>
          </a:bodyPr>
          <a:lstStyle/>
          <a:p>
            <a:pPr algn="l">
              <a:lnSpc>
                <a:spcPts val="5355"/>
              </a:lnSpc>
            </a:pPr>
            <a:r>
              <a:rPr lang="en-US" sz="5250" b="true">
                <a:solidFill>
                  <a:srgbClr val="122033"/>
                </a:solidFill>
                <a:latin typeface="Barlow Condensed Bold"/>
                <a:ea typeface="Barlow Condensed Bold"/>
                <a:cs typeface="Barlow Condensed Bold"/>
                <a:sym typeface="Barlow Condensed Bold"/>
              </a:rPr>
              <a:t>Mô hình nhà thông minh đơn giản</a:t>
            </a:r>
          </a:p>
        </p:txBody>
      </p:sp>
      <p:sp>
        <p:nvSpPr>
          <p:cNvPr name="TextBox 3" id="3"/>
          <p:cNvSpPr txBox="true"/>
          <p:nvPr/>
        </p:nvSpPr>
        <p:spPr>
          <a:xfrm rot="0">
            <a:off x="11239500" y="8582025"/>
            <a:ext cx="5715000" cy="306705"/>
          </a:xfrm>
          <a:prstGeom prst="rect">
            <a:avLst/>
          </a:prstGeom>
        </p:spPr>
        <p:txBody>
          <a:bodyPr anchor="t" rtlCol="false" tIns="0" lIns="0" bIns="0" rIns="0">
            <a:spAutoFit/>
          </a:bodyPr>
          <a:lstStyle/>
          <a:p>
            <a:pPr algn="r">
              <a:lnSpc>
                <a:spcPts val="2520"/>
              </a:lnSpc>
            </a:pPr>
            <a:r>
              <a:rPr lang="en-US" sz="1800">
                <a:solidFill>
                  <a:srgbClr val="2D7FF9"/>
                </a:solidFill>
                <a:latin typeface="Be Vietnam"/>
                <a:ea typeface="Be Vietnam"/>
                <a:cs typeface="Be Vietnam"/>
                <a:sym typeface="Be Vietnam"/>
              </a:rPr>
              <a:t>Dữ liệu đi lên • Quyết định đi xuống</a:t>
            </a:r>
          </a:p>
        </p:txBody>
      </p:sp>
      <p:grpSp>
        <p:nvGrpSpPr>
          <p:cNvPr name="Group 4" id="4"/>
          <p:cNvGrpSpPr/>
          <p:nvPr/>
        </p:nvGrpSpPr>
        <p:grpSpPr>
          <a:xfrm rot="0">
            <a:off x="1143000" y="2857500"/>
            <a:ext cx="3143250" cy="1238250"/>
            <a:chOff x="0" y="0"/>
            <a:chExt cx="4191000" cy="1651000"/>
          </a:xfrm>
        </p:grpSpPr>
        <p:sp>
          <p:nvSpPr>
            <p:cNvPr name="Freeform 5" id="5"/>
            <p:cNvSpPr/>
            <p:nvPr/>
          </p:nvSpPr>
          <p:spPr>
            <a:xfrm flipH="false" flipV="false" rot="0">
              <a:off x="0" y="0"/>
              <a:ext cx="4191000" cy="1651000"/>
            </a:xfrm>
            <a:custGeom>
              <a:avLst/>
              <a:gdLst/>
              <a:ahLst/>
              <a:cxnLst/>
              <a:rect r="r" b="b" t="t" l="l"/>
              <a:pathLst>
                <a:path h="1651000" w="4191000">
                  <a:moveTo>
                    <a:pt x="69273" y="0"/>
                  </a:moveTo>
                  <a:lnTo>
                    <a:pt x="4121727" y="0"/>
                  </a:lnTo>
                  <a:cubicBezTo>
                    <a:pt x="4140100" y="0"/>
                    <a:pt x="4157719" y="7298"/>
                    <a:pt x="4170711" y="20290"/>
                  </a:cubicBezTo>
                  <a:cubicBezTo>
                    <a:pt x="4183702" y="33281"/>
                    <a:pt x="4191000" y="50900"/>
                    <a:pt x="4191000" y="69273"/>
                  </a:cubicBezTo>
                  <a:lnTo>
                    <a:pt x="4191000" y="1581727"/>
                  </a:lnTo>
                  <a:cubicBezTo>
                    <a:pt x="4191000" y="1600100"/>
                    <a:pt x="4183702" y="1617719"/>
                    <a:pt x="4170711" y="1630711"/>
                  </a:cubicBezTo>
                  <a:cubicBezTo>
                    <a:pt x="4157719" y="1643702"/>
                    <a:pt x="4140100" y="1651000"/>
                    <a:pt x="4121727" y="1651000"/>
                  </a:cubicBezTo>
                  <a:lnTo>
                    <a:pt x="69273" y="1651000"/>
                  </a:lnTo>
                  <a:cubicBezTo>
                    <a:pt x="50900" y="1651000"/>
                    <a:pt x="33281" y="1643702"/>
                    <a:pt x="20290" y="1630711"/>
                  </a:cubicBezTo>
                  <a:cubicBezTo>
                    <a:pt x="7298" y="1617719"/>
                    <a:pt x="0" y="1600100"/>
                    <a:pt x="0" y="1581727"/>
                  </a:cubicBezTo>
                  <a:lnTo>
                    <a:pt x="0" y="69273"/>
                  </a:lnTo>
                  <a:cubicBezTo>
                    <a:pt x="0" y="50900"/>
                    <a:pt x="7298" y="33281"/>
                    <a:pt x="20290" y="20290"/>
                  </a:cubicBezTo>
                  <a:cubicBezTo>
                    <a:pt x="33281" y="7298"/>
                    <a:pt x="50900" y="0"/>
                    <a:pt x="69273" y="0"/>
                  </a:cubicBezTo>
                  <a:close/>
                </a:path>
              </a:pathLst>
            </a:custGeom>
            <a:solidFill>
              <a:srgbClr val="46D9C5"/>
            </a:solidFill>
            <a:ln cap="sq">
              <a:noFill/>
              <a:prstDash val="solid"/>
              <a:miter/>
            </a:ln>
          </p:spPr>
        </p:sp>
        <p:sp>
          <p:nvSpPr>
            <p:cNvPr name="TextBox 6" id="6"/>
            <p:cNvSpPr txBox="true"/>
            <p:nvPr/>
          </p:nvSpPr>
          <p:spPr>
            <a:xfrm>
              <a:off x="0" y="9525"/>
              <a:ext cx="4191000" cy="1641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CẢM BIẾN</a:t>
              </a:r>
            </a:p>
          </p:txBody>
        </p:sp>
      </p:grpSp>
      <p:sp>
        <p:nvSpPr>
          <p:cNvPr name="AutoShape 7" id="7"/>
          <p:cNvSpPr/>
          <p:nvPr/>
        </p:nvSpPr>
        <p:spPr>
          <a:xfrm>
            <a:off x="4286250" y="3476625"/>
            <a:ext cx="2952750" cy="1857375"/>
          </a:xfrm>
          <a:prstGeom prst="line">
            <a:avLst/>
          </a:prstGeom>
          <a:ln cap="flat" w="38100">
            <a:solidFill>
              <a:srgbClr val="6B7684"/>
            </a:solidFill>
            <a:prstDash val="solid"/>
            <a:headEnd type="none" len="sm" w="sm"/>
            <a:tailEnd type="none" len="sm" w="sm"/>
          </a:ln>
        </p:spPr>
      </p:sp>
      <p:grpSp>
        <p:nvGrpSpPr>
          <p:cNvPr name="Group 8" id="8"/>
          <p:cNvGrpSpPr/>
          <p:nvPr/>
        </p:nvGrpSpPr>
        <p:grpSpPr>
          <a:xfrm rot="0">
            <a:off x="1143000" y="5334000"/>
            <a:ext cx="3143250" cy="1238250"/>
            <a:chOff x="0" y="0"/>
            <a:chExt cx="4191000" cy="1651000"/>
          </a:xfrm>
        </p:grpSpPr>
        <p:sp>
          <p:nvSpPr>
            <p:cNvPr name="Freeform 9" id="9"/>
            <p:cNvSpPr/>
            <p:nvPr/>
          </p:nvSpPr>
          <p:spPr>
            <a:xfrm flipH="false" flipV="false" rot="0">
              <a:off x="0" y="0"/>
              <a:ext cx="4191000" cy="1651000"/>
            </a:xfrm>
            <a:custGeom>
              <a:avLst/>
              <a:gdLst/>
              <a:ahLst/>
              <a:cxnLst/>
              <a:rect r="r" b="b" t="t" l="l"/>
              <a:pathLst>
                <a:path h="1651000" w="4191000">
                  <a:moveTo>
                    <a:pt x="69273" y="0"/>
                  </a:moveTo>
                  <a:lnTo>
                    <a:pt x="4121727" y="0"/>
                  </a:lnTo>
                  <a:cubicBezTo>
                    <a:pt x="4140100" y="0"/>
                    <a:pt x="4157719" y="7298"/>
                    <a:pt x="4170711" y="20290"/>
                  </a:cubicBezTo>
                  <a:cubicBezTo>
                    <a:pt x="4183702" y="33281"/>
                    <a:pt x="4191000" y="50900"/>
                    <a:pt x="4191000" y="69273"/>
                  </a:cubicBezTo>
                  <a:lnTo>
                    <a:pt x="4191000" y="1581727"/>
                  </a:lnTo>
                  <a:cubicBezTo>
                    <a:pt x="4191000" y="1600100"/>
                    <a:pt x="4183702" y="1617719"/>
                    <a:pt x="4170711" y="1630711"/>
                  </a:cubicBezTo>
                  <a:cubicBezTo>
                    <a:pt x="4157719" y="1643702"/>
                    <a:pt x="4140100" y="1651000"/>
                    <a:pt x="4121727" y="1651000"/>
                  </a:cubicBezTo>
                  <a:lnTo>
                    <a:pt x="69273" y="1651000"/>
                  </a:lnTo>
                  <a:cubicBezTo>
                    <a:pt x="50900" y="1651000"/>
                    <a:pt x="33281" y="1643702"/>
                    <a:pt x="20290" y="1630711"/>
                  </a:cubicBezTo>
                  <a:cubicBezTo>
                    <a:pt x="7298" y="1617719"/>
                    <a:pt x="0" y="1600100"/>
                    <a:pt x="0" y="1581727"/>
                  </a:cubicBezTo>
                  <a:lnTo>
                    <a:pt x="0" y="69273"/>
                  </a:lnTo>
                  <a:cubicBezTo>
                    <a:pt x="0" y="50900"/>
                    <a:pt x="7298" y="33281"/>
                    <a:pt x="20290" y="20290"/>
                  </a:cubicBezTo>
                  <a:cubicBezTo>
                    <a:pt x="33281" y="7298"/>
                    <a:pt x="50900" y="0"/>
                    <a:pt x="69273" y="0"/>
                  </a:cubicBezTo>
                  <a:close/>
                </a:path>
              </a:pathLst>
            </a:custGeom>
            <a:solidFill>
              <a:srgbClr val="46D9C5"/>
            </a:solidFill>
            <a:ln cap="sq">
              <a:noFill/>
              <a:prstDash val="solid"/>
              <a:miter/>
            </a:ln>
          </p:spPr>
        </p:sp>
        <p:sp>
          <p:nvSpPr>
            <p:cNvPr name="TextBox 10" id="10"/>
            <p:cNvSpPr txBox="true"/>
            <p:nvPr/>
          </p:nvSpPr>
          <p:spPr>
            <a:xfrm>
              <a:off x="0" y="9525"/>
              <a:ext cx="4191000" cy="1641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CAMERA</a:t>
              </a:r>
            </a:p>
          </p:txBody>
        </p:sp>
      </p:grpSp>
      <p:sp>
        <p:nvSpPr>
          <p:cNvPr name="AutoShape 11" id="11"/>
          <p:cNvSpPr/>
          <p:nvPr/>
        </p:nvSpPr>
        <p:spPr>
          <a:xfrm flipV="true">
            <a:off x="4286250" y="5334000"/>
            <a:ext cx="2952750" cy="619125"/>
          </a:xfrm>
          <a:prstGeom prst="line">
            <a:avLst/>
          </a:prstGeom>
          <a:ln cap="flat" w="38100">
            <a:solidFill>
              <a:srgbClr val="6B7684"/>
            </a:solidFill>
            <a:prstDash val="solid"/>
            <a:headEnd type="none" len="sm" w="sm"/>
            <a:tailEnd type="none" len="sm" w="sm"/>
          </a:ln>
        </p:spPr>
      </p:sp>
      <p:grpSp>
        <p:nvGrpSpPr>
          <p:cNvPr name="Group 12" id="12"/>
          <p:cNvGrpSpPr/>
          <p:nvPr/>
        </p:nvGrpSpPr>
        <p:grpSpPr>
          <a:xfrm rot="0">
            <a:off x="1143000" y="7810500"/>
            <a:ext cx="3143250" cy="1238250"/>
            <a:chOff x="0" y="0"/>
            <a:chExt cx="4191000" cy="1651000"/>
          </a:xfrm>
        </p:grpSpPr>
        <p:sp>
          <p:nvSpPr>
            <p:cNvPr name="Freeform 13" id="13"/>
            <p:cNvSpPr/>
            <p:nvPr/>
          </p:nvSpPr>
          <p:spPr>
            <a:xfrm flipH="false" flipV="false" rot="0">
              <a:off x="0" y="0"/>
              <a:ext cx="4191000" cy="1651000"/>
            </a:xfrm>
            <a:custGeom>
              <a:avLst/>
              <a:gdLst/>
              <a:ahLst/>
              <a:cxnLst/>
              <a:rect r="r" b="b" t="t" l="l"/>
              <a:pathLst>
                <a:path h="1651000" w="4191000">
                  <a:moveTo>
                    <a:pt x="69273" y="0"/>
                  </a:moveTo>
                  <a:lnTo>
                    <a:pt x="4121727" y="0"/>
                  </a:lnTo>
                  <a:cubicBezTo>
                    <a:pt x="4140100" y="0"/>
                    <a:pt x="4157719" y="7298"/>
                    <a:pt x="4170711" y="20290"/>
                  </a:cubicBezTo>
                  <a:cubicBezTo>
                    <a:pt x="4183702" y="33281"/>
                    <a:pt x="4191000" y="50900"/>
                    <a:pt x="4191000" y="69273"/>
                  </a:cubicBezTo>
                  <a:lnTo>
                    <a:pt x="4191000" y="1581727"/>
                  </a:lnTo>
                  <a:cubicBezTo>
                    <a:pt x="4191000" y="1600100"/>
                    <a:pt x="4183702" y="1617719"/>
                    <a:pt x="4170711" y="1630711"/>
                  </a:cubicBezTo>
                  <a:cubicBezTo>
                    <a:pt x="4157719" y="1643702"/>
                    <a:pt x="4140100" y="1651000"/>
                    <a:pt x="4121727" y="1651000"/>
                  </a:cubicBezTo>
                  <a:lnTo>
                    <a:pt x="69273" y="1651000"/>
                  </a:lnTo>
                  <a:cubicBezTo>
                    <a:pt x="50900" y="1651000"/>
                    <a:pt x="33281" y="1643702"/>
                    <a:pt x="20290" y="1630711"/>
                  </a:cubicBezTo>
                  <a:cubicBezTo>
                    <a:pt x="7298" y="1617719"/>
                    <a:pt x="0" y="1600100"/>
                    <a:pt x="0" y="1581727"/>
                  </a:cubicBezTo>
                  <a:lnTo>
                    <a:pt x="0" y="69273"/>
                  </a:lnTo>
                  <a:cubicBezTo>
                    <a:pt x="0" y="50900"/>
                    <a:pt x="7298" y="33281"/>
                    <a:pt x="20290" y="20290"/>
                  </a:cubicBezTo>
                  <a:cubicBezTo>
                    <a:pt x="33281" y="7298"/>
                    <a:pt x="50900" y="0"/>
                    <a:pt x="69273" y="0"/>
                  </a:cubicBezTo>
                  <a:close/>
                </a:path>
              </a:pathLst>
            </a:custGeom>
            <a:solidFill>
              <a:srgbClr val="FF8A4C"/>
            </a:solidFill>
            <a:ln cap="sq">
              <a:noFill/>
              <a:prstDash val="solid"/>
              <a:miter/>
            </a:ln>
          </p:spPr>
        </p:sp>
        <p:sp>
          <p:nvSpPr>
            <p:cNvPr name="TextBox 14" id="14"/>
            <p:cNvSpPr txBox="true"/>
            <p:nvPr/>
          </p:nvSpPr>
          <p:spPr>
            <a:xfrm>
              <a:off x="0" y="9525"/>
              <a:ext cx="4191000" cy="1641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ĐÈN / KHÓA</a:t>
              </a:r>
            </a:p>
          </p:txBody>
        </p:sp>
      </p:grpSp>
      <p:sp>
        <p:nvSpPr>
          <p:cNvPr name="AutoShape 15" id="15"/>
          <p:cNvSpPr/>
          <p:nvPr/>
        </p:nvSpPr>
        <p:spPr>
          <a:xfrm flipV="true">
            <a:off x="4286250" y="5334000"/>
            <a:ext cx="2952750" cy="3095625"/>
          </a:xfrm>
          <a:prstGeom prst="line">
            <a:avLst/>
          </a:prstGeom>
          <a:ln cap="flat" w="38100">
            <a:solidFill>
              <a:srgbClr val="6B7684"/>
            </a:solidFill>
            <a:prstDash val="solid"/>
            <a:headEnd type="none" len="sm" w="sm"/>
            <a:tailEnd type="none" len="sm" w="sm"/>
          </a:ln>
        </p:spPr>
      </p:sp>
      <p:grpSp>
        <p:nvGrpSpPr>
          <p:cNvPr name="Group 16" id="16"/>
          <p:cNvGrpSpPr/>
          <p:nvPr/>
        </p:nvGrpSpPr>
        <p:grpSpPr>
          <a:xfrm rot="0">
            <a:off x="7239000" y="4286250"/>
            <a:ext cx="3619500" cy="2095500"/>
            <a:chOff x="0" y="0"/>
            <a:chExt cx="4826000" cy="2794000"/>
          </a:xfrm>
        </p:grpSpPr>
        <p:sp>
          <p:nvSpPr>
            <p:cNvPr name="Freeform 17" id="17"/>
            <p:cNvSpPr/>
            <p:nvPr/>
          </p:nvSpPr>
          <p:spPr>
            <a:xfrm flipH="false" flipV="false" rot="0">
              <a:off x="0" y="0"/>
              <a:ext cx="4826000" cy="2794000"/>
            </a:xfrm>
            <a:custGeom>
              <a:avLst/>
              <a:gdLst/>
              <a:ahLst/>
              <a:cxnLst/>
              <a:rect r="r" b="b" t="t" l="l"/>
              <a:pathLst>
                <a:path h="2794000" w="4826000">
                  <a:moveTo>
                    <a:pt x="60158" y="0"/>
                  </a:moveTo>
                  <a:lnTo>
                    <a:pt x="4765842" y="0"/>
                  </a:lnTo>
                  <a:cubicBezTo>
                    <a:pt x="4799066" y="0"/>
                    <a:pt x="4826000" y="26934"/>
                    <a:pt x="4826000" y="60158"/>
                  </a:cubicBezTo>
                  <a:lnTo>
                    <a:pt x="4826000" y="2733842"/>
                  </a:lnTo>
                  <a:cubicBezTo>
                    <a:pt x="4826000" y="2767066"/>
                    <a:pt x="4799066" y="2794000"/>
                    <a:pt x="4765842" y="2794000"/>
                  </a:cubicBezTo>
                  <a:lnTo>
                    <a:pt x="60158" y="2794000"/>
                  </a:lnTo>
                  <a:cubicBezTo>
                    <a:pt x="26934" y="2794000"/>
                    <a:pt x="0" y="2767066"/>
                    <a:pt x="0" y="2733842"/>
                  </a:cubicBezTo>
                  <a:lnTo>
                    <a:pt x="0" y="60158"/>
                  </a:lnTo>
                  <a:cubicBezTo>
                    <a:pt x="0" y="26934"/>
                    <a:pt x="26934" y="0"/>
                    <a:pt x="60158" y="0"/>
                  </a:cubicBezTo>
                  <a:close/>
                </a:path>
              </a:pathLst>
            </a:custGeom>
            <a:solidFill>
              <a:srgbClr val="2D7FF9"/>
            </a:solidFill>
            <a:ln cap="sq">
              <a:noFill/>
              <a:prstDash val="solid"/>
              <a:miter/>
            </a:ln>
          </p:spPr>
        </p:sp>
        <p:sp>
          <p:nvSpPr>
            <p:cNvPr name="TextBox 18" id="18"/>
            <p:cNvSpPr txBox="true"/>
            <p:nvPr/>
          </p:nvSpPr>
          <p:spPr>
            <a:xfrm>
              <a:off x="0" y="9525"/>
              <a:ext cx="4826000" cy="2784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BỘ ĐIỀU KHIỂN</a:t>
              </a:r>
            </a:p>
            <a:p>
              <a:pPr algn="ctr">
                <a:lnSpc>
                  <a:spcPts val="2070"/>
                </a:lnSpc>
              </a:pPr>
              <a:r>
                <a:rPr lang="en-US" sz="1800" b="true">
                  <a:solidFill>
                    <a:srgbClr val="FFFFFF"/>
                  </a:solidFill>
                  <a:latin typeface="Be Vietnam Ultra-Bold"/>
                  <a:ea typeface="Be Vietnam Ultra-Bold"/>
                  <a:cs typeface="Be Vietnam Ultra-Bold"/>
                  <a:sym typeface="Be Vietnam Ultra-Bold"/>
                </a:rPr>
                <a:t>TRUNG TÂM</a:t>
              </a:r>
            </a:p>
          </p:txBody>
        </p:sp>
      </p:grpSp>
      <p:sp>
        <p:nvSpPr>
          <p:cNvPr name="AutoShape 19" id="19"/>
          <p:cNvSpPr/>
          <p:nvPr/>
        </p:nvSpPr>
        <p:spPr>
          <a:xfrm flipV="true">
            <a:off x="10858500" y="3714750"/>
            <a:ext cx="2381250" cy="1619250"/>
          </a:xfrm>
          <a:prstGeom prst="line">
            <a:avLst/>
          </a:prstGeom>
          <a:ln cap="flat" w="47625">
            <a:solidFill>
              <a:srgbClr val="6B7684"/>
            </a:solidFill>
            <a:prstDash val="solid"/>
            <a:headEnd type="none" len="sm" w="sm"/>
            <a:tailEnd type="none" len="sm" w="sm"/>
          </a:ln>
        </p:spPr>
      </p:sp>
      <p:sp>
        <p:nvSpPr>
          <p:cNvPr name="AutoShape 20" id="20"/>
          <p:cNvSpPr/>
          <p:nvPr/>
        </p:nvSpPr>
        <p:spPr>
          <a:xfrm>
            <a:off x="10858500" y="5334000"/>
            <a:ext cx="2381250" cy="1619250"/>
          </a:xfrm>
          <a:prstGeom prst="line">
            <a:avLst/>
          </a:prstGeom>
          <a:ln cap="flat" w="47625">
            <a:solidFill>
              <a:srgbClr val="6B7684"/>
            </a:solidFill>
            <a:prstDash val="solid"/>
            <a:headEnd type="none" len="sm" w="sm"/>
            <a:tailEnd type="none" len="sm" w="sm"/>
          </a:ln>
        </p:spPr>
      </p:sp>
      <p:grpSp>
        <p:nvGrpSpPr>
          <p:cNvPr name="Group 21" id="21"/>
          <p:cNvGrpSpPr/>
          <p:nvPr/>
        </p:nvGrpSpPr>
        <p:grpSpPr>
          <a:xfrm rot="0">
            <a:off x="13239750" y="2857500"/>
            <a:ext cx="3714750" cy="1619250"/>
            <a:chOff x="0" y="0"/>
            <a:chExt cx="4953000" cy="2159000"/>
          </a:xfrm>
        </p:grpSpPr>
        <p:sp>
          <p:nvSpPr>
            <p:cNvPr name="Freeform 22" id="22"/>
            <p:cNvSpPr/>
            <p:nvPr/>
          </p:nvSpPr>
          <p:spPr>
            <a:xfrm flipH="false" flipV="false" rot="0">
              <a:off x="0" y="0"/>
              <a:ext cx="4953000" cy="2159000"/>
            </a:xfrm>
            <a:custGeom>
              <a:avLst/>
              <a:gdLst/>
              <a:ahLst/>
              <a:cxnLst/>
              <a:rect r="r" b="b" t="t" l="l"/>
              <a:pathLst>
                <a:path h="2159000" w="4953000">
                  <a:moveTo>
                    <a:pt x="58615" y="0"/>
                  </a:moveTo>
                  <a:lnTo>
                    <a:pt x="4894385" y="0"/>
                  </a:lnTo>
                  <a:cubicBezTo>
                    <a:pt x="4926757" y="0"/>
                    <a:pt x="4953000" y="26243"/>
                    <a:pt x="4953000" y="58615"/>
                  </a:cubicBezTo>
                  <a:lnTo>
                    <a:pt x="4953000" y="2100385"/>
                  </a:lnTo>
                  <a:cubicBezTo>
                    <a:pt x="4953000" y="2132757"/>
                    <a:pt x="4926757" y="2159000"/>
                    <a:pt x="4894385" y="2159000"/>
                  </a:cubicBezTo>
                  <a:lnTo>
                    <a:pt x="58615" y="2159000"/>
                  </a:lnTo>
                  <a:cubicBezTo>
                    <a:pt x="26243" y="2159000"/>
                    <a:pt x="0" y="2132757"/>
                    <a:pt x="0" y="2100385"/>
                  </a:cubicBezTo>
                  <a:lnTo>
                    <a:pt x="0" y="58615"/>
                  </a:lnTo>
                  <a:cubicBezTo>
                    <a:pt x="0" y="26243"/>
                    <a:pt x="26243" y="0"/>
                    <a:pt x="58615" y="0"/>
                  </a:cubicBezTo>
                  <a:close/>
                </a:path>
              </a:pathLst>
            </a:custGeom>
            <a:solidFill>
              <a:srgbClr val="122033"/>
            </a:solidFill>
            <a:ln cap="sq">
              <a:noFill/>
              <a:prstDash val="solid"/>
              <a:miter/>
            </a:ln>
          </p:spPr>
        </p:sp>
        <p:sp>
          <p:nvSpPr>
            <p:cNvPr name="TextBox 23" id="23"/>
            <p:cNvSpPr txBox="true"/>
            <p:nvPr/>
          </p:nvSpPr>
          <p:spPr>
            <a:xfrm>
              <a:off x="0" y="9525"/>
              <a:ext cx="4953000" cy="2149475"/>
            </a:xfrm>
            <a:prstGeom prst="rect">
              <a:avLst/>
            </a:prstGeom>
          </p:spPr>
          <p:txBody>
            <a:bodyPr anchor="ctr" rtlCol="false" tIns="50800" lIns="50800" bIns="50800" rIns="50800"/>
            <a:lstStyle/>
            <a:p>
              <a:pPr algn="ctr">
                <a:lnSpc>
                  <a:spcPts val="2070"/>
                </a:lnSpc>
              </a:pPr>
              <a:r>
                <a:rPr lang="en-US" sz="1800" b="true">
                  <a:solidFill>
                    <a:srgbClr val="FFFFFF"/>
                  </a:solidFill>
                  <a:latin typeface="Be Vietnam Ultra-Bold"/>
                  <a:ea typeface="Be Vietnam Ultra-Bold"/>
                  <a:cs typeface="Be Vietnam Ultra-Bold"/>
                  <a:sym typeface="Be Vietnam Ultra-Bold"/>
                </a:rPr>
                <a:t>ĐÁM MÂY</a:t>
              </a:r>
            </a:p>
          </p:txBody>
        </p:sp>
      </p:grpSp>
      <p:grpSp>
        <p:nvGrpSpPr>
          <p:cNvPr name="Group 24" id="24"/>
          <p:cNvGrpSpPr/>
          <p:nvPr/>
        </p:nvGrpSpPr>
        <p:grpSpPr>
          <a:xfrm rot="0">
            <a:off x="13239750" y="6191250"/>
            <a:ext cx="3714750" cy="1619250"/>
            <a:chOff x="0" y="0"/>
            <a:chExt cx="4953000" cy="2159000"/>
          </a:xfrm>
        </p:grpSpPr>
        <p:sp>
          <p:nvSpPr>
            <p:cNvPr name="Freeform 25" id="25"/>
            <p:cNvSpPr/>
            <p:nvPr/>
          </p:nvSpPr>
          <p:spPr>
            <a:xfrm flipH="false" flipV="false" rot="0">
              <a:off x="0" y="0"/>
              <a:ext cx="4953000" cy="2159000"/>
            </a:xfrm>
            <a:custGeom>
              <a:avLst/>
              <a:gdLst/>
              <a:ahLst/>
              <a:cxnLst/>
              <a:rect r="r" b="b" t="t" l="l"/>
              <a:pathLst>
                <a:path h="2159000" w="4953000">
                  <a:moveTo>
                    <a:pt x="58615" y="0"/>
                  </a:moveTo>
                  <a:lnTo>
                    <a:pt x="4894385" y="0"/>
                  </a:lnTo>
                  <a:cubicBezTo>
                    <a:pt x="4926757" y="0"/>
                    <a:pt x="4953000" y="26243"/>
                    <a:pt x="4953000" y="58615"/>
                  </a:cubicBezTo>
                  <a:lnTo>
                    <a:pt x="4953000" y="2100385"/>
                  </a:lnTo>
                  <a:cubicBezTo>
                    <a:pt x="4953000" y="2132757"/>
                    <a:pt x="4926757" y="2159000"/>
                    <a:pt x="4894385" y="2159000"/>
                  </a:cubicBezTo>
                  <a:lnTo>
                    <a:pt x="58615" y="2159000"/>
                  </a:lnTo>
                  <a:cubicBezTo>
                    <a:pt x="26243" y="2159000"/>
                    <a:pt x="0" y="2132757"/>
                    <a:pt x="0" y="2100385"/>
                  </a:cubicBezTo>
                  <a:lnTo>
                    <a:pt x="0" y="58615"/>
                  </a:lnTo>
                  <a:cubicBezTo>
                    <a:pt x="0" y="26243"/>
                    <a:pt x="26243" y="0"/>
                    <a:pt x="58615" y="0"/>
                  </a:cubicBezTo>
                  <a:close/>
                </a:path>
              </a:pathLst>
            </a:custGeom>
            <a:solidFill>
              <a:srgbClr val="FF8A4C"/>
            </a:solidFill>
            <a:ln cap="sq">
              <a:noFill/>
              <a:prstDash val="solid"/>
              <a:miter/>
            </a:ln>
          </p:spPr>
        </p:sp>
        <p:sp>
          <p:nvSpPr>
            <p:cNvPr name="TextBox 26" id="26"/>
            <p:cNvSpPr txBox="true"/>
            <p:nvPr/>
          </p:nvSpPr>
          <p:spPr>
            <a:xfrm>
              <a:off x="0" y="9525"/>
              <a:ext cx="4953000" cy="2149475"/>
            </a:xfrm>
            <a:prstGeom prst="rect">
              <a:avLst/>
            </a:prstGeom>
          </p:spPr>
          <p:txBody>
            <a:bodyPr anchor="ctr" rtlCol="false" tIns="50800" lIns="50800" bIns="50800" rIns="50800"/>
            <a:lstStyle/>
            <a:p>
              <a:pPr algn="ctr">
                <a:lnSpc>
                  <a:spcPts val="2070"/>
                </a:lnSpc>
              </a:pPr>
              <a:r>
                <a:rPr lang="en-US" sz="1800" b="true">
                  <a:solidFill>
                    <a:srgbClr val="122033"/>
                  </a:solidFill>
                  <a:latin typeface="Be Vietnam Ultra-Bold"/>
                  <a:ea typeface="Be Vietnam Ultra-Bold"/>
                  <a:cs typeface="Be Vietnam Ultra-Bold"/>
                  <a:sym typeface="Be Vietnam Ultra-Bold"/>
                </a:rPr>
                <a:t>ỨNG DỤNG</a:t>
              </a:r>
            </a:p>
          </p:txBody>
        </p:sp>
      </p:grpSp>
    </p:spTree>
  </p:cSld>
  <p:clrMapOvr>
    <a:masterClrMapping/>
  </p:clrMapOvr>
</p:sld>
</file>

<file path=ppt/slides/slide17.xml><?xml version="1.0" encoding="utf-8"?>
<p:sld xmlns:p="http://schemas.openxmlformats.org/presentationml/2006/main" xmlns:a="http://schemas.openxmlformats.org/drawingml/2006/main">
  <p:cSld>
    <p:bg>
      <p:bgPr>
        <a:solidFill>
          <a:srgbClr val="0B1728"/>
        </a:solidFill>
      </p:bgPr>
    </p:bg>
    <p:spTree>
      <p:nvGrpSpPr>
        <p:cNvPr id="1" name=""/>
        <p:cNvGrpSpPr/>
        <p:nvPr/>
      </p:nvGrpSpPr>
      <p:grpSpPr>
        <a:xfrm>
          <a:off x="0" y="0"/>
          <a:ext cx="0" cy="0"/>
          <a:chOff x="0" y="0"/>
          <a:chExt cx="0" cy="0"/>
        </a:xfrm>
      </p:grpSpPr>
      <p:grpSp>
        <p:nvGrpSpPr>
          <p:cNvPr name="Group 2" id="2"/>
          <p:cNvGrpSpPr/>
          <p:nvPr/>
        </p:nvGrpSpPr>
        <p:grpSpPr>
          <a:xfrm rot="0">
            <a:off x="14097000" y="6191250"/>
            <a:ext cx="4953000" cy="4953000"/>
            <a:chOff x="0" y="0"/>
            <a:chExt cx="6604000" cy="6604000"/>
          </a:xfrm>
        </p:grpSpPr>
        <p:sp>
          <p:nvSpPr>
            <p:cNvPr name="Freeform 3" id="3"/>
            <p:cNvSpPr/>
            <p:nvPr/>
          </p:nvSpPr>
          <p:spPr>
            <a:xfrm flipH="false" flipV="false" rot="0">
              <a:off x="0" y="0"/>
              <a:ext cx="6604000" cy="6604000"/>
            </a:xfrm>
            <a:custGeom>
              <a:avLst/>
              <a:gdLst/>
              <a:ahLst/>
              <a:cxnLst/>
              <a:rect r="r" b="b" t="t" l="l"/>
              <a:pathLst>
                <a:path h="6604000" w="6604000">
                  <a:moveTo>
                    <a:pt x="3302000" y="0"/>
                  </a:moveTo>
                  <a:cubicBezTo>
                    <a:pt x="5125644" y="0"/>
                    <a:pt x="6604000" y="1478356"/>
                    <a:pt x="6604000" y="3302000"/>
                  </a:cubicBezTo>
                  <a:cubicBezTo>
                    <a:pt x="6604000" y="5125644"/>
                    <a:pt x="5125644" y="6604000"/>
                    <a:pt x="3302000" y="6604000"/>
                  </a:cubicBezTo>
                  <a:cubicBezTo>
                    <a:pt x="1478356" y="6604000"/>
                    <a:pt x="0" y="5125644"/>
                    <a:pt x="0" y="3302000"/>
                  </a:cubicBezTo>
                  <a:cubicBezTo>
                    <a:pt x="0" y="1478356"/>
                    <a:pt x="1478356" y="0"/>
                    <a:pt x="3302000" y="0"/>
                  </a:cubicBezTo>
                  <a:close/>
                </a:path>
              </a:pathLst>
            </a:custGeom>
            <a:gradFill rotWithShape="true">
              <a:gsLst>
                <a:gs pos="0">
                  <a:srgbClr val="46D9C5">
                    <a:alpha val="55000"/>
                  </a:srgbClr>
                </a:gs>
                <a:gs pos="100000">
                  <a:srgbClr val="2D7FF9">
                    <a:alpha val="0"/>
                  </a:srgbClr>
                </a:gs>
              </a:gsLst>
              <a:path path="circle">
                <a:fillToRect l="50000" r="50000" t="50000" b="50000"/>
              </a:path>
            </a:gradFill>
            <a:ln cap="sq">
              <a:noFill/>
              <a:prstDash val="solid"/>
              <a:miter/>
            </a:ln>
          </p:spPr>
        </p:sp>
        <p:sp>
          <p:nvSpPr>
            <p:cNvPr name="TextBox 4" id="4"/>
            <p:cNvSpPr txBox="true"/>
            <p:nvPr/>
          </p:nvSpPr>
          <p:spPr>
            <a:xfrm>
              <a:off x="0" y="-38100"/>
              <a:ext cx="6604000" cy="6642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695325"/>
            <a:ext cx="11430000" cy="1255395"/>
          </a:xfrm>
          <a:prstGeom prst="rect">
            <a:avLst/>
          </a:prstGeom>
        </p:spPr>
        <p:txBody>
          <a:bodyPr anchor="t" rtlCol="false" tIns="0" lIns="0" bIns="0" rIns="0">
            <a:spAutoFit/>
          </a:bodyPr>
          <a:lstStyle/>
          <a:p>
            <a:pPr algn="l">
              <a:lnSpc>
                <a:spcPts val="10080"/>
              </a:lnSpc>
            </a:pPr>
            <a:r>
              <a:rPr lang="en-US" sz="7200">
                <a:solidFill>
                  <a:srgbClr val="FFFFFF"/>
                </a:solidFill>
                <a:latin typeface="Arimo"/>
                <a:ea typeface="Arimo"/>
                <a:cs typeface="Arimo"/>
                <a:sym typeface="Arimo"/>
              </a:rPr>
              <a:t>Kết luận</a:t>
            </a:r>
          </a:p>
        </p:txBody>
      </p:sp>
      <p:sp>
        <p:nvSpPr>
          <p:cNvPr name="TextBox 6" id="6"/>
          <p:cNvSpPr txBox="true"/>
          <p:nvPr/>
        </p:nvSpPr>
        <p:spPr>
          <a:xfrm rot="0">
            <a:off x="967767" y="7207885"/>
            <a:ext cx="13129233" cy="2085975"/>
          </a:xfrm>
          <a:prstGeom prst="rect">
            <a:avLst/>
          </a:prstGeom>
        </p:spPr>
        <p:txBody>
          <a:bodyPr anchor="t" rtlCol="false" tIns="0" lIns="0" bIns="0" rIns="0">
            <a:spAutoFit/>
          </a:bodyPr>
          <a:lstStyle/>
          <a:p>
            <a:pPr algn="l">
              <a:lnSpc>
                <a:spcPts val="4199"/>
              </a:lnSpc>
            </a:pPr>
            <a:r>
              <a:rPr lang="en-US" sz="2999">
                <a:solidFill>
                  <a:srgbClr val="46D9C5"/>
                </a:solidFill>
                <a:latin typeface="Arimo"/>
                <a:ea typeface="Arimo"/>
                <a:cs typeface="Arimo"/>
                <a:sym typeface="Arimo"/>
              </a:rPr>
              <a:t>Nhà thông minh không chỉ là ngôi nhà có nhiều thiết bị kết nối, mà là một hệ thống </a:t>
            </a:r>
            <a:r>
              <a:rPr lang="en-US" sz="2999">
                <a:solidFill>
                  <a:srgbClr val="46D9C5"/>
                </a:solidFill>
                <a:latin typeface="Arimo"/>
                <a:ea typeface="Arimo"/>
                <a:cs typeface="Arimo"/>
                <a:sym typeface="Arimo"/>
              </a:rPr>
              <a:t>CNTT cần được thiết kế thông minh, vận hành hiệu quả và bảo vệ an toàn.</a:t>
            </a:r>
          </a:p>
          <a:p>
            <a:pPr algn="l">
              <a:lnSpc>
                <a:spcPts val="4199"/>
              </a:lnSpc>
            </a:pPr>
          </a:p>
        </p:txBody>
      </p:sp>
      <p:sp>
        <p:nvSpPr>
          <p:cNvPr name="TextBox 7" id="7"/>
          <p:cNvSpPr txBox="true"/>
          <p:nvPr/>
        </p:nvSpPr>
        <p:spPr>
          <a:xfrm rot="0">
            <a:off x="1047750" y="2781300"/>
            <a:ext cx="5143500" cy="533400"/>
          </a:xfrm>
          <a:prstGeom prst="rect">
            <a:avLst/>
          </a:prstGeom>
        </p:spPr>
        <p:txBody>
          <a:bodyPr anchor="t" rtlCol="false" tIns="0" lIns="0" bIns="0" rIns="0">
            <a:spAutoFit/>
          </a:bodyPr>
          <a:lstStyle/>
          <a:p>
            <a:pPr algn="l">
              <a:lnSpc>
                <a:spcPts val="4200"/>
              </a:lnSpc>
            </a:pPr>
            <a:r>
              <a:rPr lang="en-US" sz="3000">
                <a:solidFill>
                  <a:srgbClr val="46D9C5"/>
                </a:solidFill>
                <a:latin typeface="Arimo"/>
                <a:ea typeface="Arimo"/>
                <a:cs typeface="Arimo"/>
                <a:sym typeface="Arimo"/>
              </a:rPr>
              <a:t>01</a:t>
            </a:r>
          </a:p>
        </p:txBody>
      </p:sp>
      <p:sp>
        <p:nvSpPr>
          <p:cNvPr name="TextBox 8" id="8"/>
          <p:cNvSpPr txBox="true"/>
          <p:nvPr/>
        </p:nvSpPr>
        <p:spPr>
          <a:xfrm rot="0">
            <a:off x="1047750" y="3457575"/>
            <a:ext cx="5143500" cy="599440"/>
          </a:xfrm>
          <a:prstGeom prst="rect">
            <a:avLst/>
          </a:prstGeom>
        </p:spPr>
        <p:txBody>
          <a:bodyPr anchor="t" rtlCol="false" tIns="0" lIns="0" bIns="0" rIns="0">
            <a:spAutoFit/>
          </a:bodyPr>
          <a:lstStyle/>
          <a:p>
            <a:pPr algn="l">
              <a:lnSpc>
                <a:spcPts val="4759"/>
              </a:lnSpc>
            </a:pPr>
            <a:r>
              <a:rPr lang="en-US" sz="3399">
                <a:solidFill>
                  <a:srgbClr val="FFFFFF"/>
                </a:solidFill>
                <a:latin typeface="Arimo"/>
                <a:ea typeface="Arimo"/>
                <a:cs typeface="Arimo"/>
                <a:sym typeface="Arimo"/>
              </a:rPr>
              <a:t>Tổng kết</a:t>
            </a:r>
          </a:p>
        </p:txBody>
      </p:sp>
      <p:sp>
        <p:nvSpPr>
          <p:cNvPr name="TextBox 9" id="9"/>
          <p:cNvSpPr txBox="true"/>
          <p:nvPr/>
        </p:nvSpPr>
        <p:spPr>
          <a:xfrm rot="0">
            <a:off x="1047750" y="4252595"/>
            <a:ext cx="5143500" cy="2324100"/>
          </a:xfrm>
          <a:prstGeom prst="rect">
            <a:avLst/>
          </a:prstGeom>
        </p:spPr>
        <p:txBody>
          <a:bodyPr anchor="t" rtlCol="false" tIns="0" lIns="0" bIns="0" rIns="0">
            <a:spAutoFit/>
          </a:bodyPr>
          <a:lstStyle/>
          <a:p>
            <a:pPr algn="l">
              <a:lnSpc>
                <a:spcPts val="3749"/>
              </a:lnSpc>
            </a:pPr>
            <a:r>
              <a:rPr lang="en-US" sz="2499">
                <a:solidFill>
                  <a:srgbClr val="9FB0C4"/>
                </a:solidFill>
                <a:latin typeface="Arimo"/>
                <a:ea typeface="Arimo"/>
                <a:cs typeface="Arimo"/>
                <a:sym typeface="Arimo"/>
              </a:rPr>
              <a:t>IoT là nền tảng công nghệ quan trọng giúp kết nối cảm biến, thiết bị gia dụng và hệ thống điều khiển trong nhà thông minh.</a:t>
            </a:r>
          </a:p>
          <a:p>
            <a:pPr algn="l">
              <a:lnSpc>
                <a:spcPts val="3749"/>
              </a:lnSpc>
            </a:pPr>
          </a:p>
        </p:txBody>
      </p:sp>
      <p:sp>
        <p:nvSpPr>
          <p:cNvPr name="TextBox 10" id="10"/>
          <p:cNvSpPr txBox="true"/>
          <p:nvPr/>
        </p:nvSpPr>
        <p:spPr>
          <a:xfrm rot="0">
            <a:off x="6572250" y="2781300"/>
            <a:ext cx="5143500" cy="533400"/>
          </a:xfrm>
          <a:prstGeom prst="rect">
            <a:avLst/>
          </a:prstGeom>
        </p:spPr>
        <p:txBody>
          <a:bodyPr anchor="t" rtlCol="false" tIns="0" lIns="0" bIns="0" rIns="0">
            <a:spAutoFit/>
          </a:bodyPr>
          <a:lstStyle/>
          <a:p>
            <a:pPr algn="l">
              <a:lnSpc>
                <a:spcPts val="4200"/>
              </a:lnSpc>
            </a:pPr>
            <a:r>
              <a:rPr lang="en-US" sz="3000">
                <a:solidFill>
                  <a:srgbClr val="46D9C5"/>
                </a:solidFill>
                <a:latin typeface="Arimo"/>
                <a:ea typeface="Arimo"/>
                <a:cs typeface="Arimo"/>
                <a:sym typeface="Arimo"/>
              </a:rPr>
              <a:t>02</a:t>
            </a:r>
          </a:p>
        </p:txBody>
      </p:sp>
      <p:sp>
        <p:nvSpPr>
          <p:cNvPr name="TextBox 11" id="11"/>
          <p:cNvSpPr txBox="true"/>
          <p:nvPr/>
        </p:nvSpPr>
        <p:spPr>
          <a:xfrm rot="0">
            <a:off x="6572250" y="3457575"/>
            <a:ext cx="5143500" cy="599440"/>
          </a:xfrm>
          <a:prstGeom prst="rect">
            <a:avLst/>
          </a:prstGeom>
        </p:spPr>
        <p:txBody>
          <a:bodyPr anchor="t" rtlCol="false" tIns="0" lIns="0" bIns="0" rIns="0">
            <a:spAutoFit/>
          </a:bodyPr>
          <a:lstStyle/>
          <a:p>
            <a:pPr algn="l">
              <a:lnSpc>
                <a:spcPts val="4759"/>
              </a:lnSpc>
            </a:pPr>
            <a:r>
              <a:rPr lang="en-US" sz="3399">
                <a:solidFill>
                  <a:srgbClr val="FFFFFF"/>
                </a:solidFill>
                <a:latin typeface="Arimo"/>
                <a:ea typeface="Arimo"/>
                <a:cs typeface="Arimo"/>
                <a:sym typeface="Arimo"/>
              </a:rPr>
              <a:t>Ý nghĩa với CNTT</a:t>
            </a:r>
          </a:p>
        </p:txBody>
      </p:sp>
      <p:sp>
        <p:nvSpPr>
          <p:cNvPr name="TextBox 12" id="12"/>
          <p:cNvSpPr txBox="true"/>
          <p:nvPr/>
        </p:nvSpPr>
        <p:spPr>
          <a:xfrm rot="0">
            <a:off x="6572250" y="4252595"/>
            <a:ext cx="5143500" cy="2324100"/>
          </a:xfrm>
          <a:prstGeom prst="rect">
            <a:avLst/>
          </a:prstGeom>
        </p:spPr>
        <p:txBody>
          <a:bodyPr anchor="t" rtlCol="false" tIns="0" lIns="0" bIns="0" rIns="0">
            <a:spAutoFit/>
          </a:bodyPr>
          <a:lstStyle/>
          <a:p>
            <a:pPr algn="l">
              <a:lnSpc>
                <a:spcPts val="3749"/>
              </a:lnSpc>
            </a:pPr>
            <a:r>
              <a:rPr lang="en-US" sz="2499">
                <a:solidFill>
                  <a:srgbClr val="9FB0C4"/>
                </a:solidFill>
                <a:latin typeface="Arimo"/>
                <a:ea typeface="Arimo"/>
                <a:cs typeface="Arimo"/>
                <a:sym typeface="Arimo"/>
              </a:rPr>
              <a:t>Tiếp cận </a:t>
            </a:r>
            <a:r>
              <a:rPr lang="en-US" sz="2499">
                <a:solidFill>
                  <a:srgbClr val="9FB0C4"/>
                </a:solidFill>
                <a:latin typeface="Arimo"/>
                <a:ea typeface="Arimo"/>
                <a:cs typeface="Arimo"/>
                <a:sym typeface="Arimo"/>
              </a:rPr>
              <a:t>những hướng nghề nghiệp như IoT Engineer, Embedded Systems Engineer, AIoT Engineer và Cybersecurity Engineer.</a:t>
            </a:r>
          </a:p>
          <a:p>
            <a:pPr algn="l">
              <a:lnSpc>
                <a:spcPts val="3749"/>
              </a:lnSpc>
            </a:pPr>
          </a:p>
        </p:txBody>
      </p:sp>
      <p:sp>
        <p:nvSpPr>
          <p:cNvPr name="TextBox 13" id="13"/>
          <p:cNvSpPr txBox="true"/>
          <p:nvPr/>
        </p:nvSpPr>
        <p:spPr>
          <a:xfrm rot="0">
            <a:off x="12096750" y="2781300"/>
            <a:ext cx="5143500" cy="533400"/>
          </a:xfrm>
          <a:prstGeom prst="rect">
            <a:avLst/>
          </a:prstGeom>
        </p:spPr>
        <p:txBody>
          <a:bodyPr anchor="t" rtlCol="false" tIns="0" lIns="0" bIns="0" rIns="0">
            <a:spAutoFit/>
          </a:bodyPr>
          <a:lstStyle/>
          <a:p>
            <a:pPr algn="l">
              <a:lnSpc>
                <a:spcPts val="4200"/>
              </a:lnSpc>
            </a:pPr>
            <a:r>
              <a:rPr lang="en-US" sz="3000">
                <a:solidFill>
                  <a:srgbClr val="46D9C5"/>
                </a:solidFill>
                <a:latin typeface="Arimo"/>
                <a:ea typeface="Arimo"/>
                <a:cs typeface="Arimo"/>
                <a:sym typeface="Arimo"/>
              </a:rPr>
              <a:t>03</a:t>
            </a:r>
          </a:p>
        </p:txBody>
      </p:sp>
      <p:sp>
        <p:nvSpPr>
          <p:cNvPr name="TextBox 14" id="14"/>
          <p:cNvSpPr txBox="true"/>
          <p:nvPr/>
        </p:nvSpPr>
        <p:spPr>
          <a:xfrm rot="0">
            <a:off x="12096750" y="3457575"/>
            <a:ext cx="5143500" cy="599440"/>
          </a:xfrm>
          <a:prstGeom prst="rect">
            <a:avLst/>
          </a:prstGeom>
        </p:spPr>
        <p:txBody>
          <a:bodyPr anchor="t" rtlCol="false" tIns="0" lIns="0" bIns="0" rIns="0">
            <a:spAutoFit/>
          </a:bodyPr>
          <a:lstStyle/>
          <a:p>
            <a:pPr algn="l">
              <a:lnSpc>
                <a:spcPts val="4759"/>
              </a:lnSpc>
            </a:pPr>
            <a:r>
              <a:rPr lang="en-US" sz="3399">
                <a:solidFill>
                  <a:srgbClr val="FFFFFF"/>
                </a:solidFill>
                <a:latin typeface="Arimo"/>
                <a:ea typeface="Arimo"/>
                <a:cs typeface="Arimo"/>
                <a:sym typeface="Arimo"/>
              </a:rPr>
              <a:t>Định hướng tương lai</a:t>
            </a:r>
          </a:p>
        </p:txBody>
      </p:sp>
      <p:sp>
        <p:nvSpPr>
          <p:cNvPr name="TextBox 15" id="15"/>
          <p:cNvSpPr txBox="true"/>
          <p:nvPr/>
        </p:nvSpPr>
        <p:spPr>
          <a:xfrm rot="0">
            <a:off x="12096750" y="4252595"/>
            <a:ext cx="5143500" cy="1857375"/>
          </a:xfrm>
          <a:prstGeom prst="rect">
            <a:avLst/>
          </a:prstGeom>
        </p:spPr>
        <p:txBody>
          <a:bodyPr anchor="t" rtlCol="false" tIns="0" lIns="0" bIns="0" rIns="0">
            <a:spAutoFit/>
          </a:bodyPr>
          <a:lstStyle/>
          <a:p>
            <a:pPr algn="l">
              <a:lnSpc>
                <a:spcPts val="3749"/>
              </a:lnSpc>
            </a:pPr>
            <a:r>
              <a:rPr lang="en-US" sz="2499">
                <a:solidFill>
                  <a:srgbClr val="9FB0C4"/>
                </a:solidFill>
                <a:latin typeface="Arimo"/>
                <a:ea typeface="Arimo"/>
                <a:cs typeface="Arimo"/>
                <a:sym typeface="Arimo"/>
              </a:rPr>
              <a:t>Kết </a:t>
            </a:r>
            <a:r>
              <a:rPr lang="en-US" sz="2499">
                <a:solidFill>
                  <a:srgbClr val="9FB0C4"/>
                </a:solidFill>
                <a:latin typeface="Arimo"/>
                <a:ea typeface="Arimo"/>
                <a:cs typeface="Arimo"/>
                <a:sym typeface="Arimo"/>
              </a:rPr>
              <a:t>hợp AI và IoT để tăng khả năng tự động hóa, đồng thời kiểm soát mức tiêu thụ năng lượng.</a:t>
            </a:r>
          </a:p>
          <a:p>
            <a:pPr algn="l">
              <a:lnSpc>
                <a:spcPts val="374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3640352"/>
            <a:ext cx="4364182" cy="5575313"/>
          </a:xfrm>
          <a:custGeom>
            <a:avLst/>
            <a:gdLst/>
            <a:ahLst/>
            <a:cxnLst/>
            <a:rect r="r" b="b" t="t" l="l"/>
            <a:pathLst>
              <a:path h="5575313" w="4364182">
                <a:moveTo>
                  <a:pt x="0" y="0"/>
                </a:moveTo>
                <a:lnTo>
                  <a:pt x="4364182" y="0"/>
                </a:lnTo>
                <a:lnTo>
                  <a:pt x="4364182" y="5575313"/>
                </a:lnTo>
                <a:lnTo>
                  <a:pt x="0" y="5575313"/>
                </a:lnTo>
                <a:lnTo>
                  <a:pt x="0" y="0"/>
                </a:lnTo>
                <a:close/>
              </a:path>
            </a:pathLst>
          </a:custGeom>
          <a:blipFill>
            <a:blip r:embed="rId3"/>
            <a:stretch>
              <a:fillRect l="0" t="0" r="0" b="0"/>
            </a:stretch>
          </a:blipFill>
        </p:spPr>
      </p:sp>
      <p:sp>
        <p:nvSpPr>
          <p:cNvPr name="Freeform 4" id="4"/>
          <p:cNvSpPr/>
          <p:nvPr/>
        </p:nvSpPr>
        <p:spPr>
          <a:xfrm flipH="false" flipV="false" rot="0">
            <a:off x="13923818" y="6635716"/>
            <a:ext cx="4364182" cy="3651284"/>
          </a:xfrm>
          <a:custGeom>
            <a:avLst/>
            <a:gdLst/>
            <a:ahLst/>
            <a:cxnLst/>
            <a:rect r="r" b="b" t="t" l="l"/>
            <a:pathLst>
              <a:path h="3651284" w="4364182">
                <a:moveTo>
                  <a:pt x="0" y="0"/>
                </a:moveTo>
                <a:lnTo>
                  <a:pt x="4364182" y="0"/>
                </a:lnTo>
                <a:lnTo>
                  <a:pt x="4364182" y="3651284"/>
                </a:lnTo>
                <a:lnTo>
                  <a:pt x="0" y="3651284"/>
                </a:lnTo>
                <a:lnTo>
                  <a:pt x="0" y="0"/>
                </a:lnTo>
                <a:close/>
              </a:path>
            </a:pathLst>
          </a:custGeom>
          <a:blipFill>
            <a:blip r:embed="rId4"/>
            <a:stretch>
              <a:fillRect l="0" t="0" r="0" b="0"/>
            </a:stretch>
          </a:blipFill>
        </p:spPr>
      </p:sp>
      <p:sp>
        <p:nvSpPr>
          <p:cNvPr name="TextBox 5" id="5"/>
          <p:cNvSpPr txBox="true"/>
          <p:nvPr/>
        </p:nvSpPr>
        <p:spPr>
          <a:xfrm rot="0">
            <a:off x="4113246" y="3723741"/>
            <a:ext cx="10689985" cy="1103274"/>
          </a:xfrm>
          <a:prstGeom prst="rect">
            <a:avLst/>
          </a:prstGeom>
        </p:spPr>
        <p:txBody>
          <a:bodyPr anchor="t" rtlCol="false" tIns="0" lIns="0" bIns="0" rIns="0">
            <a:spAutoFit/>
          </a:bodyPr>
          <a:lstStyle/>
          <a:p>
            <a:pPr algn="ctr">
              <a:lnSpc>
                <a:spcPts val="9057"/>
              </a:lnSpc>
            </a:pPr>
            <a:r>
              <a:rPr lang="en-US" sz="5662">
                <a:solidFill>
                  <a:srgbClr val="9FB0C4">
                    <a:alpha val="89804"/>
                  </a:srgbClr>
                </a:solidFill>
                <a:latin typeface="Arimo"/>
                <a:ea typeface="Arimo"/>
                <a:cs typeface="Arimo"/>
                <a:sym typeface="Arimo"/>
              </a:rPr>
              <a:t>Cảm ơn mọi người đã lắng nghe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DAHYP42aAxA</dc:identifier>
  <dcterms:modified xsi:type="dcterms:W3CDTF">2011-08-01T06:04:30Z</dcterms:modified>
  <cp:revision>1</cp:revision>
  <dc:title>IoT trong nhà thông minh</dc:title>
</cp:coreProperties>
</file>